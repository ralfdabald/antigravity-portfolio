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73916F-9D9C-4570-ACE4-B9D90458F2F3}" type="doc">
      <dgm:prSet loTypeId="urn:microsoft.com/office/officeart/2005/8/layout/hierarchy3" loCatId="hierarchy" qsTypeId="urn:microsoft.com/office/officeart/2005/8/quickstyle/simple1" qsCatId="simple" csTypeId="urn:microsoft.com/office/officeart/2005/8/colors/colorful5" csCatId="colorful" phldr="1"/>
      <dgm:spPr/>
      <dgm:t>
        <a:bodyPr/>
        <a:lstStyle/>
        <a:p>
          <a:endParaRPr lang="en-US"/>
        </a:p>
      </dgm:t>
    </dgm:pt>
    <dgm:pt modelId="{6C085C51-0751-406D-BDC8-BCE7CB779317}">
      <dgm:prSet/>
      <dgm:spPr/>
      <dgm:t>
        <a:bodyPr/>
        <a:lstStyle/>
        <a:p>
          <a:r>
            <a:rPr lang="en-US" b="1"/>
            <a:t>Emergency Dental Services:</a:t>
          </a:r>
          <a:endParaRPr lang="en-US"/>
        </a:p>
      </dgm:t>
    </dgm:pt>
    <dgm:pt modelId="{34CF2DF4-9372-4EE4-89F5-117A9B8AC88C}" type="parTrans" cxnId="{930A4057-7826-41E4-94CA-991DCD78C43C}">
      <dgm:prSet/>
      <dgm:spPr/>
      <dgm:t>
        <a:bodyPr/>
        <a:lstStyle/>
        <a:p>
          <a:endParaRPr lang="en-US"/>
        </a:p>
      </dgm:t>
    </dgm:pt>
    <dgm:pt modelId="{4942B8B9-7E41-40B0-AA13-A80948820173}" type="sibTrans" cxnId="{930A4057-7826-41E4-94CA-991DCD78C43C}">
      <dgm:prSet/>
      <dgm:spPr/>
      <dgm:t>
        <a:bodyPr/>
        <a:lstStyle/>
        <a:p>
          <a:endParaRPr lang="en-US"/>
        </a:p>
      </dgm:t>
    </dgm:pt>
    <dgm:pt modelId="{837EDB75-E3B3-40F4-BECB-187CBB19C4E5}">
      <dgm:prSet/>
      <dgm:spPr/>
      <dgm:t>
        <a:bodyPr/>
        <a:lstStyle/>
        <a:p>
          <a:r>
            <a:rPr lang="en-US" b="1"/>
            <a:t>Toothache Relief:</a:t>
          </a:r>
          <a:r>
            <a:rPr lang="en-US"/>
            <a:t> Immediate care for sudden and severe tooth pain.</a:t>
          </a:r>
        </a:p>
      </dgm:t>
    </dgm:pt>
    <dgm:pt modelId="{A818EED6-F172-4E23-B571-1894D4949D86}" type="parTrans" cxnId="{216995B8-755E-4451-9FD1-FB2F1EB37709}">
      <dgm:prSet/>
      <dgm:spPr/>
      <dgm:t>
        <a:bodyPr/>
        <a:lstStyle/>
        <a:p>
          <a:endParaRPr lang="en-US"/>
        </a:p>
      </dgm:t>
    </dgm:pt>
    <dgm:pt modelId="{49D2D634-8D00-45D4-994C-45A284A6B085}" type="sibTrans" cxnId="{216995B8-755E-4451-9FD1-FB2F1EB37709}">
      <dgm:prSet/>
      <dgm:spPr/>
      <dgm:t>
        <a:bodyPr/>
        <a:lstStyle/>
        <a:p>
          <a:endParaRPr lang="en-US"/>
        </a:p>
      </dgm:t>
    </dgm:pt>
    <dgm:pt modelId="{0348B030-1F48-44CB-B89B-6494234DFDFB}">
      <dgm:prSet/>
      <dgm:spPr/>
      <dgm:t>
        <a:bodyPr/>
        <a:lstStyle/>
        <a:p>
          <a:r>
            <a:rPr lang="en-US" b="1"/>
            <a:t>Broken, Chipped, or Knocked-Out Tooth:</a:t>
          </a:r>
          <a:r>
            <a:rPr lang="en-US"/>
            <a:t> Urgent treatment to repair or save a damaged tooth.</a:t>
          </a:r>
        </a:p>
      </dgm:t>
    </dgm:pt>
    <dgm:pt modelId="{BFEC152A-936C-4592-84C3-117D2658991B}" type="parTrans" cxnId="{20F64272-4EB9-4C2A-B362-7C25A48985FC}">
      <dgm:prSet/>
      <dgm:spPr/>
      <dgm:t>
        <a:bodyPr/>
        <a:lstStyle/>
        <a:p>
          <a:endParaRPr lang="en-US"/>
        </a:p>
      </dgm:t>
    </dgm:pt>
    <dgm:pt modelId="{05F35F51-818D-4E62-BA5F-08434A674F2C}" type="sibTrans" cxnId="{20F64272-4EB9-4C2A-B362-7C25A48985FC}">
      <dgm:prSet/>
      <dgm:spPr/>
      <dgm:t>
        <a:bodyPr/>
        <a:lstStyle/>
        <a:p>
          <a:endParaRPr lang="en-US"/>
        </a:p>
      </dgm:t>
    </dgm:pt>
    <dgm:pt modelId="{B663B417-6268-485E-AB83-973AAC07795B}">
      <dgm:prSet/>
      <dgm:spPr/>
      <dgm:t>
        <a:bodyPr/>
        <a:lstStyle/>
        <a:p>
          <a:r>
            <a:rPr lang="en-US" b="1"/>
            <a:t>Emergency Extractions:</a:t>
          </a:r>
          <a:r>
            <a:rPr lang="en-US"/>
            <a:t> Safe removal of a tooth that cannot be saved due to severe damage or infection.</a:t>
          </a:r>
        </a:p>
      </dgm:t>
    </dgm:pt>
    <dgm:pt modelId="{81B1A325-2E25-46D7-B77D-97D847E84244}" type="parTrans" cxnId="{8C18D896-24C7-4514-8D5B-1E61D8DC8965}">
      <dgm:prSet/>
      <dgm:spPr/>
      <dgm:t>
        <a:bodyPr/>
        <a:lstStyle/>
        <a:p>
          <a:endParaRPr lang="en-US"/>
        </a:p>
      </dgm:t>
    </dgm:pt>
    <dgm:pt modelId="{DA00F81A-0CDE-4F0B-8BB6-7645F170D30F}" type="sibTrans" cxnId="{8C18D896-24C7-4514-8D5B-1E61D8DC8965}">
      <dgm:prSet/>
      <dgm:spPr/>
      <dgm:t>
        <a:bodyPr/>
        <a:lstStyle/>
        <a:p>
          <a:endParaRPr lang="en-US"/>
        </a:p>
      </dgm:t>
    </dgm:pt>
    <dgm:pt modelId="{059725F4-7600-4470-96EA-D650C6DB8422}">
      <dgm:prSet>
        <dgm:style>
          <a:lnRef idx="2">
            <a:schemeClr val="accent5">
              <a:shade val="15000"/>
            </a:schemeClr>
          </a:lnRef>
          <a:fillRef idx="1">
            <a:schemeClr val="accent5"/>
          </a:fillRef>
          <a:effectRef idx="0">
            <a:schemeClr val="accent5"/>
          </a:effectRef>
          <a:fontRef idx="minor">
            <a:schemeClr val="lt1"/>
          </a:fontRef>
        </dgm:style>
      </dgm:prSet>
      <dgm:spPr>
        <a:ln/>
      </dgm:spPr>
      <dgm:t>
        <a:bodyPr/>
        <a:lstStyle/>
        <a:p>
          <a:r>
            <a:rPr lang="en-US" b="1" dirty="0"/>
            <a:t>Specialized Services:</a:t>
          </a:r>
          <a:endParaRPr lang="en-US" dirty="0"/>
        </a:p>
      </dgm:t>
    </dgm:pt>
    <dgm:pt modelId="{6D2B844E-652F-4907-8DA1-3A8F9824A628}" type="parTrans" cxnId="{3071F888-3E47-4BAD-9D46-5751731E8853}">
      <dgm:prSet/>
      <dgm:spPr/>
      <dgm:t>
        <a:bodyPr/>
        <a:lstStyle/>
        <a:p>
          <a:endParaRPr lang="en-US"/>
        </a:p>
      </dgm:t>
    </dgm:pt>
    <dgm:pt modelId="{E448D29F-FF1E-4BC8-BE89-39B4E25CD90A}" type="sibTrans" cxnId="{3071F888-3E47-4BAD-9D46-5751731E8853}">
      <dgm:prSet/>
      <dgm:spPr/>
      <dgm:t>
        <a:bodyPr/>
        <a:lstStyle/>
        <a:p>
          <a:endParaRPr lang="en-US"/>
        </a:p>
      </dgm:t>
    </dgm:pt>
    <dgm:pt modelId="{1DD6A617-8E85-4E48-9709-56B22917FF62}">
      <dgm:prSet/>
      <dgm:spPr/>
      <dgm:t>
        <a:bodyPr/>
        <a:lstStyle/>
        <a:p>
          <a:r>
            <a:rPr lang="en-US" b="1"/>
            <a:t>Periodontal Care:</a:t>
          </a:r>
          <a:r>
            <a:rPr lang="en-US"/>
            <a:t> Treatment for gum diseases like gingivitis and periodontitis.</a:t>
          </a:r>
        </a:p>
      </dgm:t>
    </dgm:pt>
    <dgm:pt modelId="{41C61B7B-068E-4AF8-9ECD-F9D1B23940FB}" type="parTrans" cxnId="{46E47FE2-511D-4057-AE40-088D48C952E6}">
      <dgm:prSet/>
      <dgm:spPr/>
      <dgm:t>
        <a:bodyPr/>
        <a:lstStyle/>
        <a:p>
          <a:endParaRPr lang="en-US"/>
        </a:p>
      </dgm:t>
    </dgm:pt>
    <dgm:pt modelId="{2DDB3B83-52E5-4C38-BA08-7DDB7DC4EB04}" type="sibTrans" cxnId="{46E47FE2-511D-4057-AE40-088D48C952E6}">
      <dgm:prSet/>
      <dgm:spPr/>
      <dgm:t>
        <a:bodyPr/>
        <a:lstStyle/>
        <a:p>
          <a:endParaRPr lang="en-US"/>
        </a:p>
      </dgm:t>
    </dgm:pt>
    <dgm:pt modelId="{4F5C1D23-4011-48EF-8EE7-8CE26ECD88E3}">
      <dgm:prSet/>
      <dgm:spPr/>
      <dgm:t>
        <a:bodyPr/>
        <a:lstStyle/>
        <a:p>
          <a:r>
            <a:rPr lang="en-US" b="1"/>
            <a:t>TMJ/TMD Treatment:</a:t>
          </a:r>
          <a:r>
            <a:rPr lang="en-US"/>
            <a:t> Solutions for problems associated with the temporomandibular joint.</a:t>
          </a:r>
        </a:p>
      </dgm:t>
    </dgm:pt>
    <dgm:pt modelId="{8EFD316F-DD29-427F-9F7F-53646C500D11}" type="parTrans" cxnId="{8C3F01CD-636A-4DC0-9FDD-2128476A1696}">
      <dgm:prSet/>
      <dgm:spPr/>
      <dgm:t>
        <a:bodyPr/>
        <a:lstStyle/>
        <a:p>
          <a:endParaRPr lang="en-US"/>
        </a:p>
      </dgm:t>
    </dgm:pt>
    <dgm:pt modelId="{1B8C8731-A841-4609-9234-C75CB2AFB6D2}" type="sibTrans" cxnId="{8C3F01CD-636A-4DC0-9FDD-2128476A1696}">
      <dgm:prSet/>
      <dgm:spPr/>
      <dgm:t>
        <a:bodyPr/>
        <a:lstStyle/>
        <a:p>
          <a:endParaRPr lang="en-US"/>
        </a:p>
      </dgm:t>
    </dgm:pt>
    <dgm:pt modelId="{30F2D1D2-FB33-4795-B3B2-9D375C2A6460}">
      <dgm:prSe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b="1"/>
            <a:t>Oral Surgery:</a:t>
          </a:r>
          <a:endParaRPr lang="en-US"/>
        </a:p>
      </dgm:t>
    </dgm:pt>
    <dgm:pt modelId="{4950E364-59AD-4629-817B-9FF2A18374C4}" type="parTrans" cxnId="{31DA5A2D-0487-42B4-8CFE-A828F4AFFB81}">
      <dgm:prSet/>
      <dgm:spPr/>
      <dgm:t>
        <a:bodyPr/>
        <a:lstStyle/>
        <a:p>
          <a:endParaRPr lang="en-US"/>
        </a:p>
      </dgm:t>
    </dgm:pt>
    <dgm:pt modelId="{B381D661-F15C-46F4-B399-71521C856A00}" type="sibTrans" cxnId="{31DA5A2D-0487-42B4-8CFE-A828F4AFFB81}">
      <dgm:prSet/>
      <dgm:spPr/>
      <dgm:t>
        <a:bodyPr/>
        <a:lstStyle/>
        <a:p>
          <a:endParaRPr lang="en-US"/>
        </a:p>
      </dgm:t>
    </dgm:pt>
    <dgm:pt modelId="{31A8EBB7-12CF-4FDC-BB53-50052800EEA2}">
      <dgm:prSet/>
      <dgm:spPr/>
      <dgm:t>
        <a:bodyPr/>
        <a:lstStyle/>
        <a:p>
          <a:r>
            <a:rPr lang="en-US" b="1"/>
            <a:t>Tooth Extractions:</a:t>
          </a:r>
          <a:r>
            <a:rPr lang="en-US"/>
            <a:t> Safe removal of damaged or decayed teeth, including wisdom teeth.</a:t>
          </a:r>
        </a:p>
      </dgm:t>
    </dgm:pt>
    <dgm:pt modelId="{53AEFDBA-66B0-4F6E-A07F-C9FF98CF5B58}" type="parTrans" cxnId="{BD86F319-7ACD-4F45-863C-D6346F5F1CD7}">
      <dgm:prSet/>
      <dgm:spPr/>
      <dgm:t>
        <a:bodyPr/>
        <a:lstStyle/>
        <a:p>
          <a:endParaRPr lang="en-US"/>
        </a:p>
      </dgm:t>
    </dgm:pt>
    <dgm:pt modelId="{35EC0B0C-069C-434B-A7DF-3750A56E71FB}" type="sibTrans" cxnId="{BD86F319-7ACD-4F45-863C-D6346F5F1CD7}">
      <dgm:prSet/>
      <dgm:spPr/>
      <dgm:t>
        <a:bodyPr/>
        <a:lstStyle/>
        <a:p>
          <a:endParaRPr lang="en-US"/>
        </a:p>
      </dgm:t>
    </dgm:pt>
    <dgm:pt modelId="{A2BB22F2-ABBE-49ED-964F-9279243D1FBC}">
      <dgm:prSet/>
      <dgm:spPr/>
      <dgm:t>
        <a:bodyPr/>
        <a:lstStyle/>
        <a:p>
          <a:r>
            <a:rPr lang="en-US" b="1"/>
            <a:t>Bone Grafting:</a:t>
          </a:r>
          <a:r>
            <a:rPr lang="en-US"/>
            <a:t> For patients who lack sufficient natural bones for dental implants.</a:t>
          </a:r>
        </a:p>
      </dgm:t>
    </dgm:pt>
    <dgm:pt modelId="{2A07F89F-2331-4191-AC05-02100EB3D0A8}" type="parTrans" cxnId="{E4818E6D-877A-49C5-A967-A1E78ED1A38A}">
      <dgm:prSet/>
      <dgm:spPr/>
      <dgm:t>
        <a:bodyPr/>
        <a:lstStyle/>
        <a:p>
          <a:endParaRPr lang="en-US"/>
        </a:p>
      </dgm:t>
    </dgm:pt>
    <dgm:pt modelId="{D9D8173F-9C39-4186-960B-4A6F6EE9305A}" type="sibTrans" cxnId="{E4818E6D-877A-49C5-A967-A1E78ED1A38A}">
      <dgm:prSet/>
      <dgm:spPr/>
      <dgm:t>
        <a:bodyPr/>
        <a:lstStyle/>
        <a:p>
          <a:endParaRPr lang="en-US"/>
        </a:p>
      </dgm:t>
    </dgm:pt>
    <dgm:pt modelId="{9963B6EF-137F-4CC7-9BE4-217477BA0A02}">
      <dgm:prSet/>
      <dgm:spPr/>
      <dgm:t>
        <a:bodyPr/>
        <a:lstStyle/>
        <a:p>
          <a:r>
            <a:rPr lang="en-US" b="1"/>
            <a:t>Corrective Jaw Surgery:</a:t>
          </a:r>
          <a:r>
            <a:rPr lang="en-US"/>
            <a:t> To correct a wide range of skeletal and dental irregularities.</a:t>
          </a:r>
        </a:p>
      </dgm:t>
    </dgm:pt>
    <dgm:pt modelId="{51DC0681-9765-48FE-B26C-E5C9AA9ADCD6}" type="parTrans" cxnId="{C5940767-5A68-4DAB-A04F-90DE7CBACF0D}">
      <dgm:prSet/>
      <dgm:spPr/>
      <dgm:t>
        <a:bodyPr/>
        <a:lstStyle/>
        <a:p>
          <a:endParaRPr lang="en-US"/>
        </a:p>
      </dgm:t>
    </dgm:pt>
    <dgm:pt modelId="{39BA5165-E0BB-4ADF-A3D7-E09754B79997}" type="sibTrans" cxnId="{C5940767-5A68-4DAB-A04F-90DE7CBACF0D}">
      <dgm:prSet/>
      <dgm:spPr/>
      <dgm:t>
        <a:bodyPr/>
        <a:lstStyle/>
        <a:p>
          <a:endParaRPr lang="en-US"/>
        </a:p>
      </dgm:t>
    </dgm:pt>
    <dgm:pt modelId="{1B94F51F-11A1-4DCF-B849-66D9521DB64E}">
      <dgm:prSe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b="1"/>
            <a:t>Sedation Dentistry:</a:t>
          </a:r>
          <a:endParaRPr lang="en-US"/>
        </a:p>
      </dgm:t>
    </dgm:pt>
    <dgm:pt modelId="{37C1438C-8985-41E3-AE57-35A48B292AEC}" type="parTrans" cxnId="{51C35A93-797B-4F87-B11C-71B5A3432383}">
      <dgm:prSet/>
      <dgm:spPr/>
      <dgm:t>
        <a:bodyPr/>
        <a:lstStyle/>
        <a:p>
          <a:endParaRPr lang="en-US"/>
        </a:p>
      </dgm:t>
    </dgm:pt>
    <dgm:pt modelId="{78011989-E005-4E6F-B95C-F2FDF89CEB30}" type="sibTrans" cxnId="{51C35A93-797B-4F87-B11C-71B5A3432383}">
      <dgm:prSet/>
      <dgm:spPr/>
      <dgm:t>
        <a:bodyPr/>
        <a:lstStyle/>
        <a:p>
          <a:endParaRPr lang="en-US"/>
        </a:p>
      </dgm:t>
    </dgm:pt>
    <dgm:pt modelId="{8B6EE1E4-4257-47EF-B38C-B621AA1C40B9}">
      <dgm:prSet/>
      <dgm:spPr/>
      <dgm:t>
        <a:bodyPr/>
        <a:lstStyle/>
        <a:p>
          <a:r>
            <a:rPr lang="en-US" b="1"/>
            <a:t>Nitrous Oxide (Laughing Gas):</a:t>
          </a:r>
          <a:r>
            <a:rPr lang="en-US"/>
            <a:t> Mild sedative for relaxation during dental procedures.</a:t>
          </a:r>
        </a:p>
      </dgm:t>
    </dgm:pt>
    <dgm:pt modelId="{928B900B-1C1A-4B01-A136-768DEF495545}" type="parTrans" cxnId="{ED6BB38C-28B2-4AE6-902D-F73DE4ABBB13}">
      <dgm:prSet/>
      <dgm:spPr/>
      <dgm:t>
        <a:bodyPr/>
        <a:lstStyle/>
        <a:p>
          <a:endParaRPr lang="en-US"/>
        </a:p>
      </dgm:t>
    </dgm:pt>
    <dgm:pt modelId="{9027F5AD-2806-4EF1-89F5-ADE142D2D6E3}" type="sibTrans" cxnId="{ED6BB38C-28B2-4AE6-902D-F73DE4ABBB13}">
      <dgm:prSet/>
      <dgm:spPr/>
      <dgm:t>
        <a:bodyPr/>
        <a:lstStyle/>
        <a:p>
          <a:endParaRPr lang="en-US"/>
        </a:p>
      </dgm:t>
    </dgm:pt>
    <dgm:pt modelId="{FBD4092A-B17F-4538-823F-7AB54249F7A6}">
      <dgm:prSet/>
      <dgm:spPr/>
      <dgm:t>
        <a:bodyPr/>
        <a:lstStyle/>
        <a:p>
          <a:r>
            <a:rPr lang="en-US" b="1"/>
            <a:t>Oral Sedatives:</a:t>
          </a:r>
          <a:r>
            <a:rPr lang="en-US"/>
            <a:t> Prescribed before the dental appointment to reduce anxiety.</a:t>
          </a:r>
        </a:p>
      </dgm:t>
    </dgm:pt>
    <dgm:pt modelId="{395A9504-6630-44B6-B333-1C5CA2D7BAF0}" type="parTrans" cxnId="{1B2B5DF4-4AF8-416A-AB3A-4702879BA74E}">
      <dgm:prSet/>
      <dgm:spPr/>
      <dgm:t>
        <a:bodyPr/>
        <a:lstStyle/>
        <a:p>
          <a:endParaRPr lang="en-US"/>
        </a:p>
      </dgm:t>
    </dgm:pt>
    <dgm:pt modelId="{B490E556-C878-40CF-9043-42FB865A0953}" type="sibTrans" cxnId="{1B2B5DF4-4AF8-416A-AB3A-4702879BA74E}">
      <dgm:prSet/>
      <dgm:spPr/>
      <dgm:t>
        <a:bodyPr/>
        <a:lstStyle/>
        <a:p>
          <a:endParaRPr lang="en-US"/>
        </a:p>
      </dgm:t>
    </dgm:pt>
    <dgm:pt modelId="{DD028557-13D0-48A8-A8F0-10A593980B3D}">
      <dgm:prSet/>
      <dgm:spPr/>
      <dgm:t>
        <a:bodyPr/>
        <a:lstStyle/>
        <a:p>
          <a:r>
            <a:rPr lang="en-US" b="1"/>
            <a:t>IV Sedation:</a:t>
          </a:r>
          <a:r>
            <a:rPr lang="en-US"/>
            <a:t> For more complex procedures or higher levels of anxiety.</a:t>
          </a:r>
        </a:p>
      </dgm:t>
    </dgm:pt>
    <dgm:pt modelId="{640C9C2D-E66D-418A-AB8A-3764AB68A3E4}" type="parTrans" cxnId="{46C8C30A-C482-4399-9756-41F03DABEB9F}">
      <dgm:prSet/>
      <dgm:spPr/>
      <dgm:t>
        <a:bodyPr/>
        <a:lstStyle/>
        <a:p>
          <a:endParaRPr lang="en-US"/>
        </a:p>
      </dgm:t>
    </dgm:pt>
    <dgm:pt modelId="{E62A8609-D600-44CD-AB7B-1497D2EE74DB}" type="sibTrans" cxnId="{46C8C30A-C482-4399-9756-41F03DABEB9F}">
      <dgm:prSet/>
      <dgm:spPr/>
      <dgm:t>
        <a:bodyPr/>
        <a:lstStyle/>
        <a:p>
          <a:endParaRPr lang="en-US"/>
        </a:p>
      </dgm:t>
    </dgm:pt>
    <dgm:pt modelId="{A37C80BF-B35A-4091-9E40-FA66BA53A4B9}">
      <dgm:prSet>
        <dgm:style>
          <a:lnRef idx="2">
            <a:schemeClr val="accent5">
              <a:shade val="15000"/>
            </a:schemeClr>
          </a:lnRef>
          <a:fillRef idx="1">
            <a:schemeClr val="accent5"/>
          </a:fillRef>
          <a:effectRef idx="0">
            <a:schemeClr val="accent5"/>
          </a:effectRef>
          <a:fontRef idx="minor">
            <a:schemeClr val="lt1"/>
          </a:fontRef>
        </dgm:style>
      </dgm:prSet>
      <dgm:spPr/>
      <dgm:t>
        <a:bodyPr/>
        <a:lstStyle/>
        <a:p>
          <a:r>
            <a:rPr lang="en-US" b="1" dirty="0"/>
            <a:t>Pediatric Dentistry:</a:t>
          </a:r>
          <a:endParaRPr lang="en-US" dirty="0"/>
        </a:p>
      </dgm:t>
    </dgm:pt>
    <dgm:pt modelId="{92E4755E-9BAC-4507-9135-471470C06C90}" type="parTrans" cxnId="{21CC3190-6466-4ECE-B9FD-A6E9965B5C3F}">
      <dgm:prSet/>
      <dgm:spPr/>
      <dgm:t>
        <a:bodyPr/>
        <a:lstStyle/>
        <a:p>
          <a:endParaRPr lang="en-US"/>
        </a:p>
      </dgm:t>
    </dgm:pt>
    <dgm:pt modelId="{7649F3AD-EEA2-4EDA-91B3-E741D0C44553}" type="sibTrans" cxnId="{21CC3190-6466-4ECE-B9FD-A6E9965B5C3F}">
      <dgm:prSet/>
      <dgm:spPr/>
      <dgm:t>
        <a:bodyPr/>
        <a:lstStyle/>
        <a:p>
          <a:endParaRPr lang="en-US"/>
        </a:p>
      </dgm:t>
    </dgm:pt>
    <dgm:pt modelId="{43D151D0-8AD6-4872-9402-E0DA5DDD5AD0}">
      <dgm:prSet/>
      <dgm:spPr/>
      <dgm:t>
        <a:bodyPr/>
        <a:lstStyle/>
        <a:p>
          <a:r>
            <a:rPr lang="en-US" b="1"/>
            <a:t>Preventive Care and Education:</a:t>
          </a:r>
          <a:r>
            <a:rPr lang="en-US"/>
            <a:t> Focusing on early detection and teaching good oral hygiene habits.</a:t>
          </a:r>
        </a:p>
      </dgm:t>
    </dgm:pt>
    <dgm:pt modelId="{CAC8F1AE-9286-46C7-862F-DDDF24062689}" type="parTrans" cxnId="{856596F7-A757-4198-AEE5-6451DBCC313F}">
      <dgm:prSet/>
      <dgm:spPr/>
      <dgm:t>
        <a:bodyPr/>
        <a:lstStyle/>
        <a:p>
          <a:endParaRPr lang="en-US"/>
        </a:p>
      </dgm:t>
    </dgm:pt>
    <dgm:pt modelId="{20DF1782-6384-4486-8B11-4390A10B164D}" type="sibTrans" cxnId="{856596F7-A757-4198-AEE5-6451DBCC313F}">
      <dgm:prSet/>
      <dgm:spPr/>
      <dgm:t>
        <a:bodyPr/>
        <a:lstStyle/>
        <a:p>
          <a:endParaRPr lang="en-US"/>
        </a:p>
      </dgm:t>
    </dgm:pt>
    <dgm:pt modelId="{0049CD36-F748-4D25-9608-A610751982DB}">
      <dgm:prSet/>
      <dgm:spPr/>
      <dgm:t>
        <a:bodyPr/>
        <a:lstStyle/>
        <a:p>
          <a:r>
            <a:rPr lang="en-US" b="1"/>
            <a:t>Dental Sealants and Fluoride Treatments:</a:t>
          </a:r>
          <a:r>
            <a:rPr lang="en-US"/>
            <a:t> To protect young teeth from decay.</a:t>
          </a:r>
        </a:p>
      </dgm:t>
    </dgm:pt>
    <dgm:pt modelId="{4BFEA7E6-BC97-4FB1-A99F-02A8605654A1}" type="parTrans" cxnId="{C976CB9E-C79F-4F0E-8566-C61CB87C5B0B}">
      <dgm:prSet/>
      <dgm:spPr/>
      <dgm:t>
        <a:bodyPr/>
        <a:lstStyle/>
        <a:p>
          <a:endParaRPr lang="en-US"/>
        </a:p>
      </dgm:t>
    </dgm:pt>
    <dgm:pt modelId="{0DF6C287-5D77-4A0E-81B6-70B419D02854}" type="sibTrans" cxnId="{C976CB9E-C79F-4F0E-8566-C61CB87C5B0B}">
      <dgm:prSet/>
      <dgm:spPr/>
      <dgm:t>
        <a:bodyPr/>
        <a:lstStyle/>
        <a:p>
          <a:endParaRPr lang="en-US"/>
        </a:p>
      </dgm:t>
    </dgm:pt>
    <dgm:pt modelId="{959C367B-4D02-4758-A337-C84B028AF606}">
      <dgm:prSet/>
      <dgm:spPr/>
      <dgm:t>
        <a:bodyPr/>
        <a:lstStyle/>
        <a:p>
          <a:r>
            <a:rPr lang="en-US" b="1"/>
            <a:t>Orthodontic Evaluation:</a:t>
          </a:r>
          <a:r>
            <a:rPr lang="en-US"/>
            <a:t> Early assessment for potential teeth alignment issues</a:t>
          </a:r>
        </a:p>
      </dgm:t>
    </dgm:pt>
    <dgm:pt modelId="{276E5CEC-EE86-429D-96FD-7F7430A4B83B}" type="parTrans" cxnId="{398EA662-1C91-4F13-B67E-709A55F5DD0C}">
      <dgm:prSet/>
      <dgm:spPr/>
      <dgm:t>
        <a:bodyPr/>
        <a:lstStyle/>
        <a:p>
          <a:endParaRPr lang="en-US"/>
        </a:p>
      </dgm:t>
    </dgm:pt>
    <dgm:pt modelId="{A8FEBCB7-03E9-43D7-84AE-D04F927F6E85}" type="sibTrans" cxnId="{398EA662-1C91-4F13-B67E-709A55F5DD0C}">
      <dgm:prSet/>
      <dgm:spPr/>
      <dgm:t>
        <a:bodyPr/>
        <a:lstStyle/>
        <a:p>
          <a:endParaRPr lang="en-US"/>
        </a:p>
      </dgm:t>
    </dgm:pt>
    <dgm:pt modelId="{F33A1989-C90A-431C-AA6E-8D9DAAB723F6}" type="pres">
      <dgm:prSet presAssocID="{D673916F-9D9C-4570-ACE4-B9D90458F2F3}" presName="diagram" presStyleCnt="0">
        <dgm:presLayoutVars>
          <dgm:chPref val="1"/>
          <dgm:dir/>
          <dgm:animOne val="branch"/>
          <dgm:animLvl val="lvl"/>
          <dgm:resizeHandles/>
        </dgm:presLayoutVars>
      </dgm:prSet>
      <dgm:spPr/>
    </dgm:pt>
    <dgm:pt modelId="{5A986C67-8B8E-4C04-A8D8-8D6AE91D31A3}" type="pres">
      <dgm:prSet presAssocID="{6C085C51-0751-406D-BDC8-BCE7CB779317}" presName="root" presStyleCnt="0"/>
      <dgm:spPr/>
    </dgm:pt>
    <dgm:pt modelId="{A33CAFE6-60B4-4F7F-AEAD-A3FFAA74FD38}" type="pres">
      <dgm:prSet presAssocID="{6C085C51-0751-406D-BDC8-BCE7CB779317}" presName="rootComposite" presStyleCnt="0"/>
      <dgm:spPr/>
    </dgm:pt>
    <dgm:pt modelId="{7E3FF3D1-BD9C-4F7E-8A50-B1EDEDACD069}" type="pres">
      <dgm:prSet presAssocID="{6C085C51-0751-406D-BDC8-BCE7CB779317}" presName="rootText" presStyleLbl="node1" presStyleIdx="0" presStyleCnt="5"/>
      <dgm:spPr/>
    </dgm:pt>
    <dgm:pt modelId="{DEEF56D8-0B15-4276-ADEA-00080A0C9F95}" type="pres">
      <dgm:prSet presAssocID="{6C085C51-0751-406D-BDC8-BCE7CB779317}" presName="rootConnector" presStyleLbl="node1" presStyleIdx="0" presStyleCnt="5"/>
      <dgm:spPr/>
    </dgm:pt>
    <dgm:pt modelId="{954E0507-29BE-468A-BF1D-E31B060F108F}" type="pres">
      <dgm:prSet presAssocID="{6C085C51-0751-406D-BDC8-BCE7CB779317}" presName="childShape" presStyleCnt="0"/>
      <dgm:spPr/>
    </dgm:pt>
    <dgm:pt modelId="{3B860B37-D911-4CA7-8CCE-5FF65478B451}" type="pres">
      <dgm:prSet presAssocID="{A818EED6-F172-4E23-B571-1894D4949D86}" presName="Name13" presStyleLbl="parChTrans1D2" presStyleIdx="0" presStyleCnt="14"/>
      <dgm:spPr/>
    </dgm:pt>
    <dgm:pt modelId="{97B75D83-9ED9-4C9D-B719-56FF847F1AF0}" type="pres">
      <dgm:prSet presAssocID="{837EDB75-E3B3-40F4-BECB-187CBB19C4E5}" presName="childText" presStyleLbl="bgAcc1" presStyleIdx="0" presStyleCnt="14">
        <dgm:presLayoutVars>
          <dgm:bulletEnabled val="1"/>
        </dgm:presLayoutVars>
      </dgm:prSet>
      <dgm:spPr/>
    </dgm:pt>
    <dgm:pt modelId="{C0F3677A-9E99-4A54-A690-FE4C4357989E}" type="pres">
      <dgm:prSet presAssocID="{BFEC152A-936C-4592-84C3-117D2658991B}" presName="Name13" presStyleLbl="parChTrans1D2" presStyleIdx="1" presStyleCnt="14"/>
      <dgm:spPr/>
    </dgm:pt>
    <dgm:pt modelId="{B8881274-813C-4A1D-B33B-8FADB89BD8F1}" type="pres">
      <dgm:prSet presAssocID="{0348B030-1F48-44CB-B89B-6494234DFDFB}" presName="childText" presStyleLbl="bgAcc1" presStyleIdx="1" presStyleCnt="14">
        <dgm:presLayoutVars>
          <dgm:bulletEnabled val="1"/>
        </dgm:presLayoutVars>
      </dgm:prSet>
      <dgm:spPr/>
    </dgm:pt>
    <dgm:pt modelId="{B7718687-D0E4-4FD5-B11F-8A551347F0BE}" type="pres">
      <dgm:prSet presAssocID="{81B1A325-2E25-46D7-B77D-97D847E84244}" presName="Name13" presStyleLbl="parChTrans1D2" presStyleIdx="2" presStyleCnt="14"/>
      <dgm:spPr/>
    </dgm:pt>
    <dgm:pt modelId="{4BF62477-0310-4FF3-BEAC-D36A04B09987}" type="pres">
      <dgm:prSet presAssocID="{B663B417-6268-485E-AB83-973AAC07795B}" presName="childText" presStyleLbl="bgAcc1" presStyleIdx="2" presStyleCnt="14">
        <dgm:presLayoutVars>
          <dgm:bulletEnabled val="1"/>
        </dgm:presLayoutVars>
      </dgm:prSet>
      <dgm:spPr/>
    </dgm:pt>
    <dgm:pt modelId="{3AA47E8A-6A16-42AC-AC8E-4335F23BD97F}" type="pres">
      <dgm:prSet presAssocID="{059725F4-7600-4470-96EA-D650C6DB8422}" presName="root" presStyleCnt="0"/>
      <dgm:spPr/>
    </dgm:pt>
    <dgm:pt modelId="{CC731955-D4F5-4691-9202-BA62EBBE83CC}" type="pres">
      <dgm:prSet presAssocID="{059725F4-7600-4470-96EA-D650C6DB8422}" presName="rootComposite" presStyleCnt="0"/>
      <dgm:spPr/>
    </dgm:pt>
    <dgm:pt modelId="{C6548647-FA98-4642-9E53-8EA13B334224}" type="pres">
      <dgm:prSet presAssocID="{059725F4-7600-4470-96EA-D650C6DB8422}" presName="rootText" presStyleLbl="node1" presStyleIdx="1" presStyleCnt="5"/>
      <dgm:spPr/>
    </dgm:pt>
    <dgm:pt modelId="{DDCD820B-9116-4265-8100-C470303CB6EF}" type="pres">
      <dgm:prSet presAssocID="{059725F4-7600-4470-96EA-D650C6DB8422}" presName="rootConnector" presStyleLbl="node1" presStyleIdx="1" presStyleCnt="5"/>
      <dgm:spPr/>
    </dgm:pt>
    <dgm:pt modelId="{DCB96315-CC4B-4C1F-A793-401A4A07671A}" type="pres">
      <dgm:prSet presAssocID="{059725F4-7600-4470-96EA-D650C6DB8422}" presName="childShape" presStyleCnt="0"/>
      <dgm:spPr/>
    </dgm:pt>
    <dgm:pt modelId="{C290D236-3742-4AD5-8C0A-295A305FE47F}" type="pres">
      <dgm:prSet presAssocID="{41C61B7B-068E-4AF8-9ECD-F9D1B23940FB}" presName="Name13" presStyleLbl="parChTrans1D2" presStyleIdx="3" presStyleCnt="14"/>
      <dgm:spPr/>
    </dgm:pt>
    <dgm:pt modelId="{A0304A3A-58E0-41CF-AE73-E51E076B849C}" type="pres">
      <dgm:prSet presAssocID="{1DD6A617-8E85-4E48-9709-56B22917FF62}" presName="childText" presStyleLbl="bgAcc1" presStyleIdx="3" presStyleCnt="14">
        <dgm:presLayoutVars>
          <dgm:bulletEnabled val="1"/>
        </dgm:presLayoutVars>
      </dgm:prSet>
      <dgm:spPr/>
    </dgm:pt>
    <dgm:pt modelId="{B58153DF-5204-4417-8BF3-B1D96DE3A9BD}" type="pres">
      <dgm:prSet presAssocID="{8EFD316F-DD29-427F-9F7F-53646C500D11}" presName="Name13" presStyleLbl="parChTrans1D2" presStyleIdx="4" presStyleCnt="14"/>
      <dgm:spPr/>
    </dgm:pt>
    <dgm:pt modelId="{77EE8C58-A141-481A-8080-B8B8840105B7}" type="pres">
      <dgm:prSet presAssocID="{4F5C1D23-4011-48EF-8EE7-8CE26ECD88E3}" presName="childText" presStyleLbl="bgAcc1" presStyleIdx="4" presStyleCnt="14">
        <dgm:presLayoutVars>
          <dgm:bulletEnabled val="1"/>
        </dgm:presLayoutVars>
      </dgm:prSet>
      <dgm:spPr/>
    </dgm:pt>
    <dgm:pt modelId="{5A615C56-B9AD-46AD-B75E-6D513D96B5EE}" type="pres">
      <dgm:prSet presAssocID="{30F2D1D2-FB33-4795-B3B2-9D375C2A6460}" presName="root" presStyleCnt="0"/>
      <dgm:spPr/>
    </dgm:pt>
    <dgm:pt modelId="{742339FC-A291-47D3-83A8-D7B87CDAB2BF}" type="pres">
      <dgm:prSet presAssocID="{30F2D1D2-FB33-4795-B3B2-9D375C2A6460}" presName="rootComposite" presStyleCnt="0"/>
      <dgm:spPr/>
    </dgm:pt>
    <dgm:pt modelId="{57E00F8C-D734-4BDF-B874-98E101BD2BDF}" type="pres">
      <dgm:prSet presAssocID="{30F2D1D2-FB33-4795-B3B2-9D375C2A6460}" presName="rootText" presStyleLbl="node1" presStyleIdx="2" presStyleCnt="5"/>
      <dgm:spPr/>
    </dgm:pt>
    <dgm:pt modelId="{B859700C-2D93-4200-9650-B856F4CB8FB5}" type="pres">
      <dgm:prSet presAssocID="{30F2D1D2-FB33-4795-B3B2-9D375C2A6460}" presName="rootConnector" presStyleLbl="node1" presStyleIdx="2" presStyleCnt="5"/>
      <dgm:spPr/>
    </dgm:pt>
    <dgm:pt modelId="{F0DCBD94-A4DE-4E68-B0BD-BD7A452A12FA}" type="pres">
      <dgm:prSet presAssocID="{30F2D1D2-FB33-4795-B3B2-9D375C2A6460}" presName="childShape" presStyleCnt="0"/>
      <dgm:spPr/>
    </dgm:pt>
    <dgm:pt modelId="{B7777642-2ED1-4605-AEC4-6902776B35A7}" type="pres">
      <dgm:prSet presAssocID="{53AEFDBA-66B0-4F6E-A07F-C9FF98CF5B58}" presName="Name13" presStyleLbl="parChTrans1D2" presStyleIdx="5" presStyleCnt="14"/>
      <dgm:spPr/>
    </dgm:pt>
    <dgm:pt modelId="{C4F03575-B5C3-495C-96DE-9AD7F960934D}" type="pres">
      <dgm:prSet presAssocID="{31A8EBB7-12CF-4FDC-BB53-50052800EEA2}" presName="childText" presStyleLbl="bgAcc1" presStyleIdx="5" presStyleCnt="14">
        <dgm:presLayoutVars>
          <dgm:bulletEnabled val="1"/>
        </dgm:presLayoutVars>
      </dgm:prSet>
      <dgm:spPr/>
    </dgm:pt>
    <dgm:pt modelId="{37CAB83C-A28A-43E0-A148-45BB64622265}" type="pres">
      <dgm:prSet presAssocID="{2A07F89F-2331-4191-AC05-02100EB3D0A8}" presName="Name13" presStyleLbl="parChTrans1D2" presStyleIdx="6" presStyleCnt="14"/>
      <dgm:spPr/>
    </dgm:pt>
    <dgm:pt modelId="{61F78E8C-9D29-4FEE-AE90-2C2E2727EF02}" type="pres">
      <dgm:prSet presAssocID="{A2BB22F2-ABBE-49ED-964F-9279243D1FBC}" presName="childText" presStyleLbl="bgAcc1" presStyleIdx="6" presStyleCnt="14">
        <dgm:presLayoutVars>
          <dgm:bulletEnabled val="1"/>
        </dgm:presLayoutVars>
      </dgm:prSet>
      <dgm:spPr/>
    </dgm:pt>
    <dgm:pt modelId="{661E0332-A17E-4231-B48B-22A32E7A3482}" type="pres">
      <dgm:prSet presAssocID="{51DC0681-9765-48FE-B26C-E5C9AA9ADCD6}" presName="Name13" presStyleLbl="parChTrans1D2" presStyleIdx="7" presStyleCnt="14"/>
      <dgm:spPr/>
    </dgm:pt>
    <dgm:pt modelId="{E82B0F22-DCF6-437F-A727-0AF3442B78F2}" type="pres">
      <dgm:prSet presAssocID="{9963B6EF-137F-4CC7-9BE4-217477BA0A02}" presName="childText" presStyleLbl="bgAcc1" presStyleIdx="7" presStyleCnt="14">
        <dgm:presLayoutVars>
          <dgm:bulletEnabled val="1"/>
        </dgm:presLayoutVars>
      </dgm:prSet>
      <dgm:spPr/>
    </dgm:pt>
    <dgm:pt modelId="{4473322D-BDA5-4F1D-801A-F94D87F947DD}" type="pres">
      <dgm:prSet presAssocID="{1B94F51F-11A1-4DCF-B849-66D9521DB64E}" presName="root" presStyleCnt="0"/>
      <dgm:spPr/>
    </dgm:pt>
    <dgm:pt modelId="{2EB169F9-3DAD-4E80-8388-65C3B1D35DEC}" type="pres">
      <dgm:prSet presAssocID="{1B94F51F-11A1-4DCF-B849-66D9521DB64E}" presName="rootComposite" presStyleCnt="0"/>
      <dgm:spPr/>
    </dgm:pt>
    <dgm:pt modelId="{7BA0F54E-D5DB-438E-B973-C0002B399D05}" type="pres">
      <dgm:prSet presAssocID="{1B94F51F-11A1-4DCF-B849-66D9521DB64E}" presName="rootText" presStyleLbl="node1" presStyleIdx="3" presStyleCnt="5"/>
      <dgm:spPr/>
    </dgm:pt>
    <dgm:pt modelId="{90F5724C-8B7A-4D88-B350-7C3ECB1710E1}" type="pres">
      <dgm:prSet presAssocID="{1B94F51F-11A1-4DCF-B849-66D9521DB64E}" presName="rootConnector" presStyleLbl="node1" presStyleIdx="3" presStyleCnt="5"/>
      <dgm:spPr/>
    </dgm:pt>
    <dgm:pt modelId="{EAB4B7B3-266E-4E33-979C-AB1CB17CD337}" type="pres">
      <dgm:prSet presAssocID="{1B94F51F-11A1-4DCF-B849-66D9521DB64E}" presName="childShape" presStyleCnt="0"/>
      <dgm:spPr/>
    </dgm:pt>
    <dgm:pt modelId="{D2D5CD40-925E-43D9-8C82-101805A50C71}" type="pres">
      <dgm:prSet presAssocID="{928B900B-1C1A-4B01-A136-768DEF495545}" presName="Name13" presStyleLbl="parChTrans1D2" presStyleIdx="8" presStyleCnt="14"/>
      <dgm:spPr/>
    </dgm:pt>
    <dgm:pt modelId="{CA29299D-4B73-40E8-A164-B151A59E4FC0}" type="pres">
      <dgm:prSet presAssocID="{8B6EE1E4-4257-47EF-B38C-B621AA1C40B9}" presName="childText" presStyleLbl="bgAcc1" presStyleIdx="8" presStyleCnt="14">
        <dgm:presLayoutVars>
          <dgm:bulletEnabled val="1"/>
        </dgm:presLayoutVars>
      </dgm:prSet>
      <dgm:spPr/>
    </dgm:pt>
    <dgm:pt modelId="{7837DBEE-250B-43C9-84E5-72D6AB923C3C}" type="pres">
      <dgm:prSet presAssocID="{395A9504-6630-44B6-B333-1C5CA2D7BAF0}" presName="Name13" presStyleLbl="parChTrans1D2" presStyleIdx="9" presStyleCnt="14"/>
      <dgm:spPr/>
    </dgm:pt>
    <dgm:pt modelId="{A5EBD6AD-D576-4272-9299-8E1F8E7DA3C8}" type="pres">
      <dgm:prSet presAssocID="{FBD4092A-B17F-4538-823F-7AB54249F7A6}" presName="childText" presStyleLbl="bgAcc1" presStyleIdx="9" presStyleCnt="14">
        <dgm:presLayoutVars>
          <dgm:bulletEnabled val="1"/>
        </dgm:presLayoutVars>
      </dgm:prSet>
      <dgm:spPr/>
    </dgm:pt>
    <dgm:pt modelId="{AB685E6A-8404-4D42-AA26-77D466227C22}" type="pres">
      <dgm:prSet presAssocID="{640C9C2D-E66D-418A-AB8A-3764AB68A3E4}" presName="Name13" presStyleLbl="parChTrans1D2" presStyleIdx="10" presStyleCnt="14"/>
      <dgm:spPr/>
    </dgm:pt>
    <dgm:pt modelId="{7A6602F6-B4BF-4543-B34F-61EE75A5DF9F}" type="pres">
      <dgm:prSet presAssocID="{DD028557-13D0-48A8-A8F0-10A593980B3D}" presName="childText" presStyleLbl="bgAcc1" presStyleIdx="10" presStyleCnt="14">
        <dgm:presLayoutVars>
          <dgm:bulletEnabled val="1"/>
        </dgm:presLayoutVars>
      </dgm:prSet>
      <dgm:spPr/>
    </dgm:pt>
    <dgm:pt modelId="{37209329-D9A5-4500-87B7-282AC87A45E8}" type="pres">
      <dgm:prSet presAssocID="{A37C80BF-B35A-4091-9E40-FA66BA53A4B9}" presName="root" presStyleCnt="0"/>
      <dgm:spPr/>
    </dgm:pt>
    <dgm:pt modelId="{73AE07EA-6505-43D6-81D4-8EC157374A39}" type="pres">
      <dgm:prSet presAssocID="{A37C80BF-B35A-4091-9E40-FA66BA53A4B9}" presName="rootComposite" presStyleCnt="0"/>
      <dgm:spPr/>
    </dgm:pt>
    <dgm:pt modelId="{0C327094-C90E-4340-9E07-6A1F511633C3}" type="pres">
      <dgm:prSet presAssocID="{A37C80BF-B35A-4091-9E40-FA66BA53A4B9}" presName="rootText" presStyleLbl="node1" presStyleIdx="4" presStyleCnt="5"/>
      <dgm:spPr/>
    </dgm:pt>
    <dgm:pt modelId="{0177B373-5DB0-4EC2-8353-DB372B262D47}" type="pres">
      <dgm:prSet presAssocID="{A37C80BF-B35A-4091-9E40-FA66BA53A4B9}" presName="rootConnector" presStyleLbl="node1" presStyleIdx="4" presStyleCnt="5"/>
      <dgm:spPr/>
    </dgm:pt>
    <dgm:pt modelId="{DEA41781-3F11-45F2-936C-D161CED51690}" type="pres">
      <dgm:prSet presAssocID="{A37C80BF-B35A-4091-9E40-FA66BA53A4B9}" presName="childShape" presStyleCnt="0"/>
      <dgm:spPr/>
    </dgm:pt>
    <dgm:pt modelId="{BA486756-6189-4C34-9C9F-6B04DC3B28CA}" type="pres">
      <dgm:prSet presAssocID="{CAC8F1AE-9286-46C7-862F-DDDF24062689}" presName="Name13" presStyleLbl="parChTrans1D2" presStyleIdx="11" presStyleCnt="14"/>
      <dgm:spPr/>
    </dgm:pt>
    <dgm:pt modelId="{1587613C-9BFC-4A4A-A499-C2D46FADD229}" type="pres">
      <dgm:prSet presAssocID="{43D151D0-8AD6-4872-9402-E0DA5DDD5AD0}" presName="childText" presStyleLbl="bgAcc1" presStyleIdx="11" presStyleCnt="14">
        <dgm:presLayoutVars>
          <dgm:bulletEnabled val="1"/>
        </dgm:presLayoutVars>
      </dgm:prSet>
      <dgm:spPr/>
    </dgm:pt>
    <dgm:pt modelId="{A433A7E3-C2EA-41E6-AE4B-4E38913ED139}" type="pres">
      <dgm:prSet presAssocID="{4BFEA7E6-BC97-4FB1-A99F-02A8605654A1}" presName="Name13" presStyleLbl="parChTrans1D2" presStyleIdx="12" presStyleCnt="14"/>
      <dgm:spPr/>
    </dgm:pt>
    <dgm:pt modelId="{25878141-0996-4CEF-B96A-2B0EFBC3CC64}" type="pres">
      <dgm:prSet presAssocID="{0049CD36-F748-4D25-9608-A610751982DB}" presName="childText" presStyleLbl="bgAcc1" presStyleIdx="12" presStyleCnt="14">
        <dgm:presLayoutVars>
          <dgm:bulletEnabled val="1"/>
        </dgm:presLayoutVars>
      </dgm:prSet>
      <dgm:spPr/>
    </dgm:pt>
    <dgm:pt modelId="{221E93ED-1A5A-4790-AF9C-C159E3F4A561}" type="pres">
      <dgm:prSet presAssocID="{276E5CEC-EE86-429D-96FD-7F7430A4B83B}" presName="Name13" presStyleLbl="parChTrans1D2" presStyleIdx="13" presStyleCnt="14"/>
      <dgm:spPr/>
    </dgm:pt>
    <dgm:pt modelId="{DC78C3F1-8DB6-43E1-952D-2E678B4A42C8}" type="pres">
      <dgm:prSet presAssocID="{959C367B-4D02-4758-A337-C84B028AF606}" presName="childText" presStyleLbl="bgAcc1" presStyleIdx="13" presStyleCnt="14">
        <dgm:presLayoutVars>
          <dgm:bulletEnabled val="1"/>
        </dgm:presLayoutVars>
      </dgm:prSet>
      <dgm:spPr/>
    </dgm:pt>
  </dgm:ptLst>
  <dgm:cxnLst>
    <dgm:cxn modelId="{46C8C30A-C482-4399-9756-41F03DABEB9F}" srcId="{1B94F51F-11A1-4DCF-B849-66D9521DB64E}" destId="{DD028557-13D0-48A8-A8F0-10A593980B3D}" srcOrd="2" destOrd="0" parTransId="{640C9C2D-E66D-418A-AB8A-3764AB68A3E4}" sibTransId="{E62A8609-D600-44CD-AB7B-1497D2EE74DB}"/>
    <dgm:cxn modelId="{BD86F319-7ACD-4F45-863C-D6346F5F1CD7}" srcId="{30F2D1D2-FB33-4795-B3B2-9D375C2A6460}" destId="{31A8EBB7-12CF-4FDC-BB53-50052800EEA2}" srcOrd="0" destOrd="0" parTransId="{53AEFDBA-66B0-4F6E-A07F-C9FF98CF5B58}" sibTransId="{35EC0B0C-069C-434B-A7DF-3750A56E71FB}"/>
    <dgm:cxn modelId="{433D011E-4C35-4DBD-9510-59A82B6ACE89}" type="presOf" srcId="{30F2D1D2-FB33-4795-B3B2-9D375C2A6460}" destId="{57E00F8C-D734-4BDF-B874-98E101BD2BDF}" srcOrd="0" destOrd="0" presId="urn:microsoft.com/office/officeart/2005/8/layout/hierarchy3"/>
    <dgm:cxn modelId="{E3215E21-D601-41BA-BD1B-A348C8C1D311}" type="presOf" srcId="{4F5C1D23-4011-48EF-8EE7-8CE26ECD88E3}" destId="{77EE8C58-A141-481A-8080-B8B8840105B7}" srcOrd="0" destOrd="0" presId="urn:microsoft.com/office/officeart/2005/8/layout/hierarchy3"/>
    <dgm:cxn modelId="{42B53D2C-3EB2-4BF0-A0D2-6EFC071CE7DA}" type="presOf" srcId="{A2BB22F2-ABBE-49ED-964F-9279243D1FBC}" destId="{61F78E8C-9D29-4FEE-AE90-2C2E2727EF02}" srcOrd="0" destOrd="0" presId="urn:microsoft.com/office/officeart/2005/8/layout/hierarchy3"/>
    <dgm:cxn modelId="{31DA5A2D-0487-42B4-8CFE-A828F4AFFB81}" srcId="{D673916F-9D9C-4570-ACE4-B9D90458F2F3}" destId="{30F2D1D2-FB33-4795-B3B2-9D375C2A6460}" srcOrd="2" destOrd="0" parTransId="{4950E364-59AD-4629-817B-9FF2A18374C4}" sibTransId="{B381D661-F15C-46F4-B399-71521C856A00}"/>
    <dgm:cxn modelId="{1098B833-5F4C-4793-B927-5C0F313CB23A}" type="presOf" srcId="{0348B030-1F48-44CB-B89B-6494234DFDFB}" destId="{B8881274-813C-4A1D-B33B-8FADB89BD8F1}" srcOrd="0" destOrd="0" presId="urn:microsoft.com/office/officeart/2005/8/layout/hierarchy3"/>
    <dgm:cxn modelId="{DBCD9F37-BA22-4982-AA15-65BFCD15D004}" type="presOf" srcId="{81B1A325-2E25-46D7-B77D-97D847E84244}" destId="{B7718687-D0E4-4FD5-B11F-8A551347F0BE}" srcOrd="0" destOrd="0" presId="urn:microsoft.com/office/officeart/2005/8/layout/hierarchy3"/>
    <dgm:cxn modelId="{398EA662-1C91-4F13-B67E-709A55F5DD0C}" srcId="{A37C80BF-B35A-4091-9E40-FA66BA53A4B9}" destId="{959C367B-4D02-4758-A337-C84B028AF606}" srcOrd="2" destOrd="0" parTransId="{276E5CEC-EE86-429D-96FD-7F7430A4B83B}" sibTransId="{A8FEBCB7-03E9-43D7-84AE-D04F927F6E85}"/>
    <dgm:cxn modelId="{C5940767-5A68-4DAB-A04F-90DE7CBACF0D}" srcId="{30F2D1D2-FB33-4795-B3B2-9D375C2A6460}" destId="{9963B6EF-137F-4CC7-9BE4-217477BA0A02}" srcOrd="2" destOrd="0" parTransId="{51DC0681-9765-48FE-B26C-E5C9AA9ADCD6}" sibTransId="{39BA5165-E0BB-4ADF-A3D7-E09754B79997}"/>
    <dgm:cxn modelId="{E4818E6D-877A-49C5-A967-A1E78ED1A38A}" srcId="{30F2D1D2-FB33-4795-B3B2-9D375C2A6460}" destId="{A2BB22F2-ABBE-49ED-964F-9279243D1FBC}" srcOrd="1" destOrd="0" parTransId="{2A07F89F-2331-4191-AC05-02100EB3D0A8}" sibTransId="{D9D8173F-9C39-4186-960B-4A6F6EE9305A}"/>
    <dgm:cxn modelId="{4F310A4E-A5E5-4327-BF40-4AFF33C78901}" type="presOf" srcId="{BFEC152A-936C-4592-84C3-117D2658991B}" destId="{C0F3677A-9E99-4A54-A690-FE4C4357989E}" srcOrd="0" destOrd="0" presId="urn:microsoft.com/office/officeart/2005/8/layout/hierarchy3"/>
    <dgm:cxn modelId="{20F64272-4EB9-4C2A-B362-7C25A48985FC}" srcId="{6C085C51-0751-406D-BDC8-BCE7CB779317}" destId="{0348B030-1F48-44CB-B89B-6494234DFDFB}" srcOrd="1" destOrd="0" parTransId="{BFEC152A-936C-4592-84C3-117D2658991B}" sibTransId="{05F35F51-818D-4E62-BA5F-08434A674F2C}"/>
    <dgm:cxn modelId="{1A88C672-1A09-458B-8B27-44153892F9CC}" type="presOf" srcId="{1B94F51F-11A1-4DCF-B849-66D9521DB64E}" destId="{7BA0F54E-D5DB-438E-B973-C0002B399D05}" srcOrd="0" destOrd="0" presId="urn:microsoft.com/office/officeart/2005/8/layout/hierarchy3"/>
    <dgm:cxn modelId="{67BCB753-912B-4BAF-B1F0-05510F652E31}" type="presOf" srcId="{640C9C2D-E66D-418A-AB8A-3764AB68A3E4}" destId="{AB685E6A-8404-4D42-AA26-77D466227C22}" srcOrd="0" destOrd="0" presId="urn:microsoft.com/office/officeart/2005/8/layout/hierarchy3"/>
    <dgm:cxn modelId="{C5242775-D8E8-4EE3-8D66-AB23A20D1C65}" type="presOf" srcId="{2A07F89F-2331-4191-AC05-02100EB3D0A8}" destId="{37CAB83C-A28A-43E0-A148-45BB64622265}" srcOrd="0" destOrd="0" presId="urn:microsoft.com/office/officeart/2005/8/layout/hierarchy3"/>
    <dgm:cxn modelId="{A04FFB56-CF3E-492B-9481-23D88F4D10ED}" type="presOf" srcId="{51DC0681-9765-48FE-B26C-E5C9AA9ADCD6}" destId="{661E0332-A17E-4231-B48B-22A32E7A3482}" srcOrd="0" destOrd="0" presId="urn:microsoft.com/office/officeart/2005/8/layout/hierarchy3"/>
    <dgm:cxn modelId="{930A4057-7826-41E4-94CA-991DCD78C43C}" srcId="{D673916F-9D9C-4570-ACE4-B9D90458F2F3}" destId="{6C085C51-0751-406D-BDC8-BCE7CB779317}" srcOrd="0" destOrd="0" parTransId="{34CF2DF4-9372-4EE4-89F5-117A9B8AC88C}" sibTransId="{4942B8B9-7E41-40B0-AA13-A80948820173}"/>
    <dgm:cxn modelId="{79FD2A78-C702-42CB-9A2B-E071F0552EC4}" type="presOf" srcId="{928B900B-1C1A-4B01-A136-768DEF495545}" destId="{D2D5CD40-925E-43D9-8C82-101805A50C71}" srcOrd="0" destOrd="0" presId="urn:microsoft.com/office/officeart/2005/8/layout/hierarchy3"/>
    <dgm:cxn modelId="{DEA80659-1F50-492F-B9EC-115E759FB9AE}" type="presOf" srcId="{41C61B7B-068E-4AF8-9ECD-F9D1B23940FB}" destId="{C290D236-3742-4AD5-8C0A-295A305FE47F}" srcOrd="0" destOrd="0" presId="urn:microsoft.com/office/officeart/2005/8/layout/hierarchy3"/>
    <dgm:cxn modelId="{951B587D-E9B0-456A-80F1-160CD9479628}" type="presOf" srcId="{1DD6A617-8E85-4E48-9709-56B22917FF62}" destId="{A0304A3A-58E0-41CF-AE73-E51E076B849C}" srcOrd="0" destOrd="0" presId="urn:microsoft.com/office/officeart/2005/8/layout/hierarchy3"/>
    <dgm:cxn modelId="{4443EB87-253B-490B-A95D-864851CAB9B0}" type="presOf" srcId="{395A9504-6630-44B6-B333-1C5CA2D7BAF0}" destId="{7837DBEE-250B-43C9-84E5-72D6AB923C3C}" srcOrd="0" destOrd="0" presId="urn:microsoft.com/office/officeart/2005/8/layout/hierarchy3"/>
    <dgm:cxn modelId="{D583BA88-ACD3-4F3D-B73A-F3E4F8182C3A}" type="presOf" srcId="{30F2D1D2-FB33-4795-B3B2-9D375C2A6460}" destId="{B859700C-2D93-4200-9650-B856F4CB8FB5}" srcOrd="1" destOrd="0" presId="urn:microsoft.com/office/officeart/2005/8/layout/hierarchy3"/>
    <dgm:cxn modelId="{3071F888-3E47-4BAD-9D46-5751731E8853}" srcId="{D673916F-9D9C-4570-ACE4-B9D90458F2F3}" destId="{059725F4-7600-4470-96EA-D650C6DB8422}" srcOrd="1" destOrd="0" parTransId="{6D2B844E-652F-4907-8DA1-3A8F9824A628}" sibTransId="{E448D29F-FF1E-4BC8-BE89-39B4E25CD90A}"/>
    <dgm:cxn modelId="{ED6BB38C-28B2-4AE6-902D-F73DE4ABBB13}" srcId="{1B94F51F-11A1-4DCF-B849-66D9521DB64E}" destId="{8B6EE1E4-4257-47EF-B38C-B621AA1C40B9}" srcOrd="0" destOrd="0" parTransId="{928B900B-1C1A-4B01-A136-768DEF495545}" sibTransId="{9027F5AD-2806-4EF1-89F5-ADE142D2D6E3}"/>
    <dgm:cxn modelId="{21CC3190-6466-4ECE-B9FD-A6E9965B5C3F}" srcId="{D673916F-9D9C-4570-ACE4-B9D90458F2F3}" destId="{A37C80BF-B35A-4091-9E40-FA66BA53A4B9}" srcOrd="4" destOrd="0" parTransId="{92E4755E-9BAC-4507-9135-471470C06C90}" sibTransId="{7649F3AD-EEA2-4EDA-91B3-E741D0C44553}"/>
    <dgm:cxn modelId="{51C35A93-797B-4F87-B11C-71B5A3432383}" srcId="{D673916F-9D9C-4570-ACE4-B9D90458F2F3}" destId="{1B94F51F-11A1-4DCF-B849-66D9521DB64E}" srcOrd="3" destOrd="0" parTransId="{37C1438C-8985-41E3-AE57-35A48B292AEC}" sibTransId="{78011989-E005-4E6F-B95C-F2FDF89CEB30}"/>
    <dgm:cxn modelId="{9E5FD493-4595-4EDC-B09C-5849C3BB5752}" type="presOf" srcId="{DD028557-13D0-48A8-A8F0-10A593980B3D}" destId="{7A6602F6-B4BF-4543-B34F-61EE75A5DF9F}" srcOrd="0" destOrd="0" presId="urn:microsoft.com/office/officeart/2005/8/layout/hierarchy3"/>
    <dgm:cxn modelId="{915EC594-7900-4C6F-8684-E7B7C69D41BF}" type="presOf" srcId="{0049CD36-F748-4D25-9608-A610751982DB}" destId="{25878141-0996-4CEF-B96A-2B0EFBC3CC64}" srcOrd="0" destOrd="0" presId="urn:microsoft.com/office/officeart/2005/8/layout/hierarchy3"/>
    <dgm:cxn modelId="{8C18D896-24C7-4514-8D5B-1E61D8DC8965}" srcId="{6C085C51-0751-406D-BDC8-BCE7CB779317}" destId="{B663B417-6268-485E-AB83-973AAC07795B}" srcOrd="2" destOrd="0" parTransId="{81B1A325-2E25-46D7-B77D-97D847E84244}" sibTransId="{DA00F81A-0CDE-4F0B-8BB6-7645F170D30F}"/>
    <dgm:cxn modelId="{5EBD1797-A175-4D19-AA9B-511FC42D1A60}" type="presOf" srcId="{8B6EE1E4-4257-47EF-B38C-B621AA1C40B9}" destId="{CA29299D-4B73-40E8-A164-B151A59E4FC0}" srcOrd="0" destOrd="0" presId="urn:microsoft.com/office/officeart/2005/8/layout/hierarchy3"/>
    <dgm:cxn modelId="{A4977699-E63D-46E4-BD0C-497C185AD409}" type="presOf" srcId="{959C367B-4D02-4758-A337-C84B028AF606}" destId="{DC78C3F1-8DB6-43E1-952D-2E678B4A42C8}" srcOrd="0" destOrd="0" presId="urn:microsoft.com/office/officeart/2005/8/layout/hierarchy3"/>
    <dgm:cxn modelId="{9CD58C99-7167-4C28-A393-A75E618BD848}" type="presOf" srcId="{D673916F-9D9C-4570-ACE4-B9D90458F2F3}" destId="{F33A1989-C90A-431C-AA6E-8D9DAAB723F6}" srcOrd="0" destOrd="0" presId="urn:microsoft.com/office/officeart/2005/8/layout/hierarchy3"/>
    <dgm:cxn modelId="{C976CB9E-C79F-4F0E-8566-C61CB87C5B0B}" srcId="{A37C80BF-B35A-4091-9E40-FA66BA53A4B9}" destId="{0049CD36-F748-4D25-9608-A610751982DB}" srcOrd="1" destOrd="0" parTransId="{4BFEA7E6-BC97-4FB1-A99F-02A8605654A1}" sibTransId="{0DF6C287-5D77-4A0E-81B6-70B419D02854}"/>
    <dgm:cxn modelId="{64D9A1A4-FAD2-4F25-B5E5-DA5623D98968}" type="presOf" srcId="{A37C80BF-B35A-4091-9E40-FA66BA53A4B9}" destId="{0C327094-C90E-4340-9E07-6A1F511633C3}" srcOrd="0" destOrd="0" presId="urn:microsoft.com/office/officeart/2005/8/layout/hierarchy3"/>
    <dgm:cxn modelId="{B3BAE0B0-C08F-4E5B-9B05-12CF09195E6A}" type="presOf" srcId="{6C085C51-0751-406D-BDC8-BCE7CB779317}" destId="{7E3FF3D1-BD9C-4F7E-8A50-B1EDEDACD069}" srcOrd="0" destOrd="0" presId="urn:microsoft.com/office/officeart/2005/8/layout/hierarchy3"/>
    <dgm:cxn modelId="{216995B8-755E-4451-9FD1-FB2F1EB37709}" srcId="{6C085C51-0751-406D-BDC8-BCE7CB779317}" destId="{837EDB75-E3B3-40F4-BECB-187CBB19C4E5}" srcOrd="0" destOrd="0" parTransId="{A818EED6-F172-4E23-B571-1894D4949D86}" sibTransId="{49D2D634-8D00-45D4-994C-45A284A6B085}"/>
    <dgm:cxn modelId="{1119BBBA-8F83-4A60-923B-919890CE2120}" type="presOf" srcId="{837EDB75-E3B3-40F4-BECB-187CBB19C4E5}" destId="{97B75D83-9ED9-4C9D-B719-56FF847F1AF0}" srcOrd="0" destOrd="0" presId="urn:microsoft.com/office/officeart/2005/8/layout/hierarchy3"/>
    <dgm:cxn modelId="{0A4F1ACA-43B1-4D2C-9FCB-A027C4CD3F90}" type="presOf" srcId="{FBD4092A-B17F-4538-823F-7AB54249F7A6}" destId="{A5EBD6AD-D576-4272-9299-8E1F8E7DA3C8}" srcOrd="0" destOrd="0" presId="urn:microsoft.com/office/officeart/2005/8/layout/hierarchy3"/>
    <dgm:cxn modelId="{8C3F01CD-636A-4DC0-9FDD-2128476A1696}" srcId="{059725F4-7600-4470-96EA-D650C6DB8422}" destId="{4F5C1D23-4011-48EF-8EE7-8CE26ECD88E3}" srcOrd="1" destOrd="0" parTransId="{8EFD316F-DD29-427F-9F7F-53646C500D11}" sibTransId="{1B8C8731-A841-4609-9234-C75CB2AFB6D2}"/>
    <dgm:cxn modelId="{568DB3D2-DBED-4DD3-BC7D-B599A8F9541D}" type="presOf" srcId="{059725F4-7600-4470-96EA-D650C6DB8422}" destId="{C6548647-FA98-4642-9E53-8EA13B334224}" srcOrd="0" destOrd="0" presId="urn:microsoft.com/office/officeart/2005/8/layout/hierarchy3"/>
    <dgm:cxn modelId="{70A3B1DB-A427-4CF9-A702-C88741343DAE}" type="presOf" srcId="{A37C80BF-B35A-4091-9E40-FA66BA53A4B9}" destId="{0177B373-5DB0-4EC2-8353-DB372B262D47}" srcOrd="1" destOrd="0" presId="urn:microsoft.com/office/officeart/2005/8/layout/hierarchy3"/>
    <dgm:cxn modelId="{156009E1-8BCA-42CD-8090-4EBE98CA71A9}" type="presOf" srcId="{43D151D0-8AD6-4872-9402-E0DA5DDD5AD0}" destId="{1587613C-9BFC-4A4A-A499-C2D46FADD229}" srcOrd="0" destOrd="0" presId="urn:microsoft.com/office/officeart/2005/8/layout/hierarchy3"/>
    <dgm:cxn modelId="{574B8DE1-A74D-4E11-BD44-51379BE14931}" type="presOf" srcId="{31A8EBB7-12CF-4FDC-BB53-50052800EEA2}" destId="{C4F03575-B5C3-495C-96DE-9AD7F960934D}" srcOrd="0" destOrd="0" presId="urn:microsoft.com/office/officeart/2005/8/layout/hierarchy3"/>
    <dgm:cxn modelId="{46E47FE2-511D-4057-AE40-088D48C952E6}" srcId="{059725F4-7600-4470-96EA-D650C6DB8422}" destId="{1DD6A617-8E85-4E48-9709-56B22917FF62}" srcOrd="0" destOrd="0" parTransId="{41C61B7B-068E-4AF8-9ECD-F9D1B23940FB}" sibTransId="{2DDB3B83-52E5-4C38-BA08-7DDB7DC4EB04}"/>
    <dgm:cxn modelId="{9EDF92E3-D2AE-479C-8139-86E5731D7543}" type="presOf" srcId="{CAC8F1AE-9286-46C7-862F-DDDF24062689}" destId="{BA486756-6189-4C34-9C9F-6B04DC3B28CA}" srcOrd="0" destOrd="0" presId="urn:microsoft.com/office/officeart/2005/8/layout/hierarchy3"/>
    <dgm:cxn modelId="{F864E7E3-A3B3-4D30-AE38-51C8DFC5BB3B}" type="presOf" srcId="{1B94F51F-11A1-4DCF-B849-66D9521DB64E}" destId="{90F5724C-8B7A-4D88-B350-7C3ECB1710E1}" srcOrd="1" destOrd="0" presId="urn:microsoft.com/office/officeart/2005/8/layout/hierarchy3"/>
    <dgm:cxn modelId="{43BCFCE7-A8B6-4B1D-AF24-E9CA6F5C20BD}" type="presOf" srcId="{A818EED6-F172-4E23-B571-1894D4949D86}" destId="{3B860B37-D911-4CA7-8CCE-5FF65478B451}" srcOrd="0" destOrd="0" presId="urn:microsoft.com/office/officeart/2005/8/layout/hierarchy3"/>
    <dgm:cxn modelId="{D6F4E8E8-F8A3-404C-B596-F356C7001930}" type="presOf" srcId="{6C085C51-0751-406D-BDC8-BCE7CB779317}" destId="{DEEF56D8-0B15-4276-ADEA-00080A0C9F95}" srcOrd="1" destOrd="0" presId="urn:microsoft.com/office/officeart/2005/8/layout/hierarchy3"/>
    <dgm:cxn modelId="{0C050EE9-58D7-4E08-8952-9E86C370DC3E}" type="presOf" srcId="{53AEFDBA-66B0-4F6E-A07F-C9FF98CF5B58}" destId="{B7777642-2ED1-4605-AEC4-6902776B35A7}" srcOrd="0" destOrd="0" presId="urn:microsoft.com/office/officeart/2005/8/layout/hierarchy3"/>
    <dgm:cxn modelId="{FD3A3AE9-DC6C-4629-A6FF-ED03E668A5C2}" type="presOf" srcId="{9963B6EF-137F-4CC7-9BE4-217477BA0A02}" destId="{E82B0F22-DCF6-437F-A727-0AF3442B78F2}" srcOrd="0" destOrd="0" presId="urn:microsoft.com/office/officeart/2005/8/layout/hierarchy3"/>
    <dgm:cxn modelId="{4A5A35ED-4B68-445C-8A35-989D09A5CF60}" type="presOf" srcId="{B663B417-6268-485E-AB83-973AAC07795B}" destId="{4BF62477-0310-4FF3-BEAC-D36A04B09987}" srcOrd="0" destOrd="0" presId="urn:microsoft.com/office/officeart/2005/8/layout/hierarchy3"/>
    <dgm:cxn modelId="{ABB7B5EE-A27E-4189-901A-6315DAA6C40F}" type="presOf" srcId="{276E5CEC-EE86-429D-96FD-7F7430A4B83B}" destId="{221E93ED-1A5A-4790-AF9C-C159E3F4A561}" srcOrd="0" destOrd="0" presId="urn:microsoft.com/office/officeart/2005/8/layout/hierarchy3"/>
    <dgm:cxn modelId="{87BD92F3-1D1A-4DDD-BE3E-056794F5F5C3}" type="presOf" srcId="{059725F4-7600-4470-96EA-D650C6DB8422}" destId="{DDCD820B-9116-4265-8100-C470303CB6EF}" srcOrd="1" destOrd="0" presId="urn:microsoft.com/office/officeart/2005/8/layout/hierarchy3"/>
    <dgm:cxn modelId="{9A9F94F3-3250-454F-87F0-EE0EEE3B1875}" type="presOf" srcId="{4BFEA7E6-BC97-4FB1-A99F-02A8605654A1}" destId="{A433A7E3-C2EA-41E6-AE4B-4E38913ED139}" srcOrd="0" destOrd="0" presId="urn:microsoft.com/office/officeart/2005/8/layout/hierarchy3"/>
    <dgm:cxn modelId="{1B2B5DF4-4AF8-416A-AB3A-4702879BA74E}" srcId="{1B94F51F-11A1-4DCF-B849-66D9521DB64E}" destId="{FBD4092A-B17F-4538-823F-7AB54249F7A6}" srcOrd="1" destOrd="0" parTransId="{395A9504-6630-44B6-B333-1C5CA2D7BAF0}" sibTransId="{B490E556-C878-40CF-9043-42FB865A0953}"/>
    <dgm:cxn modelId="{856596F7-A757-4198-AEE5-6451DBCC313F}" srcId="{A37C80BF-B35A-4091-9E40-FA66BA53A4B9}" destId="{43D151D0-8AD6-4872-9402-E0DA5DDD5AD0}" srcOrd="0" destOrd="0" parTransId="{CAC8F1AE-9286-46C7-862F-DDDF24062689}" sibTransId="{20DF1782-6384-4486-8B11-4390A10B164D}"/>
    <dgm:cxn modelId="{EEA48CFC-9902-4358-83A0-03759324B15A}" type="presOf" srcId="{8EFD316F-DD29-427F-9F7F-53646C500D11}" destId="{B58153DF-5204-4417-8BF3-B1D96DE3A9BD}" srcOrd="0" destOrd="0" presId="urn:microsoft.com/office/officeart/2005/8/layout/hierarchy3"/>
    <dgm:cxn modelId="{8E3A1A44-0847-4613-8E10-D51F80C1B9F7}" type="presParOf" srcId="{F33A1989-C90A-431C-AA6E-8D9DAAB723F6}" destId="{5A986C67-8B8E-4C04-A8D8-8D6AE91D31A3}" srcOrd="0" destOrd="0" presId="urn:microsoft.com/office/officeart/2005/8/layout/hierarchy3"/>
    <dgm:cxn modelId="{90819A0E-A80B-4D58-A972-C5B26C9F387D}" type="presParOf" srcId="{5A986C67-8B8E-4C04-A8D8-8D6AE91D31A3}" destId="{A33CAFE6-60B4-4F7F-AEAD-A3FFAA74FD38}" srcOrd="0" destOrd="0" presId="urn:microsoft.com/office/officeart/2005/8/layout/hierarchy3"/>
    <dgm:cxn modelId="{DCA9DAB0-EF8C-4B39-8EC7-5FB23281C5A8}" type="presParOf" srcId="{A33CAFE6-60B4-4F7F-AEAD-A3FFAA74FD38}" destId="{7E3FF3D1-BD9C-4F7E-8A50-B1EDEDACD069}" srcOrd="0" destOrd="0" presId="urn:microsoft.com/office/officeart/2005/8/layout/hierarchy3"/>
    <dgm:cxn modelId="{0635A900-682D-4FCB-BB4F-35F7210FEFBD}" type="presParOf" srcId="{A33CAFE6-60B4-4F7F-AEAD-A3FFAA74FD38}" destId="{DEEF56D8-0B15-4276-ADEA-00080A0C9F95}" srcOrd="1" destOrd="0" presId="urn:microsoft.com/office/officeart/2005/8/layout/hierarchy3"/>
    <dgm:cxn modelId="{39D066C4-80BE-4270-A99E-D56A51715B31}" type="presParOf" srcId="{5A986C67-8B8E-4C04-A8D8-8D6AE91D31A3}" destId="{954E0507-29BE-468A-BF1D-E31B060F108F}" srcOrd="1" destOrd="0" presId="urn:microsoft.com/office/officeart/2005/8/layout/hierarchy3"/>
    <dgm:cxn modelId="{0D1BA3FD-05CD-490A-87B5-EA260E7608CB}" type="presParOf" srcId="{954E0507-29BE-468A-BF1D-E31B060F108F}" destId="{3B860B37-D911-4CA7-8CCE-5FF65478B451}" srcOrd="0" destOrd="0" presId="urn:microsoft.com/office/officeart/2005/8/layout/hierarchy3"/>
    <dgm:cxn modelId="{B52E1ED6-7E05-4B4E-BE4B-66A35371D542}" type="presParOf" srcId="{954E0507-29BE-468A-BF1D-E31B060F108F}" destId="{97B75D83-9ED9-4C9D-B719-56FF847F1AF0}" srcOrd="1" destOrd="0" presId="urn:microsoft.com/office/officeart/2005/8/layout/hierarchy3"/>
    <dgm:cxn modelId="{0C65A2BD-5851-4058-B0E8-E9CB9FA335E5}" type="presParOf" srcId="{954E0507-29BE-468A-BF1D-E31B060F108F}" destId="{C0F3677A-9E99-4A54-A690-FE4C4357989E}" srcOrd="2" destOrd="0" presId="urn:microsoft.com/office/officeart/2005/8/layout/hierarchy3"/>
    <dgm:cxn modelId="{DC9C7F8E-9ABC-416E-8F9C-DAD47911774C}" type="presParOf" srcId="{954E0507-29BE-468A-BF1D-E31B060F108F}" destId="{B8881274-813C-4A1D-B33B-8FADB89BD8F1}" srcOrd="3" destOrd="0" presId="urn:microsoft.com/office/officeart/2005/8/layout/hierarchy3"/>
    <dgm:cxn modelId="{BCB64B63-380B-4036-BD85-96C6C1A63E44}" type="presParOf" srcId="{954E0507-29BE-468A-BF1D-E31B060F108F}" destId="{B7718687-D0E4-4FD5-B11F-8A551347F0BE}" srcOrd="4" destOrd="0" presId="urn:microsoft.com/office/officeart/2005/8/layout/hierarchy3"/>
    <dgm:cxn modelId="{179D870D-533B-453F-A860-3732742556FB}" type="presParOf" srcId="{954E0507-29BE-468A-BF1D-E31B060F108F}" destId="{4BF62477-0310-4FF3-BEAC-D36A04B09987}" srcOrd="5" destOrd="0" presId="urn:microsoft.com/office/officeart/2005/8/layout/hierarchy3"/>
    <dgm:cxn modelId="{5351B032-19E6-413C-8760-490E5235F41F}" type="presParOf" srcId="{F33A1989-C90A-431C-AA6E-8D9DAAB723F6}" destId="{3AA47E8A-6A16-42AC-AC8E-4335F23BD97F}" srcOrd="1" destOrd="0" presId="urn:microsoft.com/office/officeart/2005/8/layout/hierarchy3"/>
    <dgm:cxn modelId="{A9094B5E-EFA1-4F67-9540-ACDA39DE4337}" type="presParOf" srcId="{3AA47E8A-6A16-42AC-AC8E-4335F23BD97F}" destId="{CC731955-D4F5-4691-9202-BA62EBBE83CC}" srcOrd="0" destOrd="0" presId="urn:microsoft.com/office/officeart/2005/8/layout/hierarchy3"/>
    <dgm:cxn modelId="{11EA9E48-D6C8-4593-A4EF-6CCB6AE67F51}" type="presParOf" srcId="{CC731955-D4F5-4691-9202-BA62EBBE83CC}" destId="{C6548647-FA98-4642-9E53-8EA13B334224}" srcOrd="0" destOrd="0" presId="urn:microsoft.com/office/officeart/2005/8/layout/hierarchy3"/>
    <dgm:cxn modelId="{7A96B954-5676-4092-B767-2A7ABDA5E7DB}" type="presParOf" srcId="{CC731955-D4F5-4691-9202-BA62EBBE83CC}" destId="{DDCD820B-9116-4265-8100-C470303CB6EF}" srcOrd="1" destOrd="0" presId="urn:microsoft.com/office/officeart/2005/8/layout/hierarchy3"/>
    <dgm:cxn modelId="{E0569D75-EF23-49D3-9811-87F73A0423C2}" type="presParOf" srcId="{3AA47E8A-6A16-42AC-AC8E-4335F23BD97F}" destId="{DCB96315-CC4B-4C1F-A793-401A4A07671A}" srcOrd="1" destOrd="0" presId="urn:microsoft.com/office/officeart/2005/8/layout/hierarchy3"/>
    <dgm:cxn modelId="{0378570F-C8A4-4351-9483-4B0A3E3E9543}" type="presParOf" srcId="{DCB96315-CC4B-4C1F-A793-401A4A07671A}" destId="{C290D236-3742-4AD5-8C0A-295A305FE47F}" srcOrd="0" destOrd="0" presId="urn:microsoft.com/office/officeart/2005/8/layout/hierarchy3"/>
    <dgm:cxn modelId="{286003DB-DFE4-4E0B-A9E0-1523F650979F}" type="presParOf" srcId="{DCB96315-CC4B-4C1F-A793-401A4A07671A}" destId="{A0304A3A-58E0-41CF-AE73-E51E076B849C}" srcOrd="1" destOrd="0" presId="urn:microsoft.com/office/officeart/2005/8/layout/hierarchy3"/>
    <dgm:cxn modelId="{10FBEFE4-CBF6-4D7F-9A59-361CAF4D919D}" type="presParOf" srcId="{DCB96315-CC4B-4C1F-A793-401A4A07671A}" destId="{B58153DF-5204-4417-8BF3-B1D96DE3A9BD}" srcOrd="2" destOrd="0" presId="urn:microsoft.com/office/officeart/2005/8/layout/hierarchy3"/>
    <dgm:cxn modelId="{DBE1598B-C0DA-48DB-8FD7-CA62476AA8D6}" type="presParOf" srcId="{DCB96315-CC4B-4C1F-A793-401A4A07671A}" destId="{77EE8C58-A141-481A-8080-B8B8840105B7}" srcOrd="3" destOrd="0" presId="urn:microsoft.com/office/officeart/2005/8/layout/hierarchy3"/>
    <dgm:cxn modelId="{3C6CE1D3-BA80-4732-8AEA-B81CC0693B2B}" type="presParOf" srcId="{F33A1989-C90A-431C-AA6E-8D9DAAB723F6}" destId="{5A615C56-B9AD-46AD-B75E-6D513D96B5EE}" srcOrd="2" destOrd="0" presId="urn:microsoft.com/office/officeart/2005/8/layout/hierarchy3"/>
    <dgm:cxn modelId="{437A544C-BC98-4A56-AE22-CCC4BA2EA5E5}" type="presParOf" srcId="{5A615C56-B9AD-46AD-B75E-6D513D96B5EE}" destId="{742339FC-A291-47D3-83A8-D7B87CDAB2BF}" srcOrd="0" destOrd="0" presId="urn:microsoft.com/office/officeart/2005/8/layout/hierarchy3"/>
    <dgm:cxn modelId="{F4D86001-56B0-4088-8557-B8D4D03781D5}" type="presParOf" srcId="{742339FC-A291-47D3-83A8-D7B87CDAB2BF}" destId="{57E00F8C-D734-4BDF-B874-98E101BD2BDF}" srcOrd="0" destOrd="0" presId="urn:microsoft.com/office/officeart/2005/8/layout/hierarchy3"/>
    <dgm:cxn modelId="{74379810-AA2F-440F-8885-2A09CEE49DDC}" type="presParOf" srcId="{742339FC-A291-47D3-83A8-D7B87CDAB2BF}" destId="{B859700C-2D93-4200-9650-B856F4CB8FB5}" srcOrd="1" destOrd="0" presId="urn:microsoft.com/office/officeart/2005/8/layout/hierarchy3"/>
    <dgm:cxn modelId="{9F1E53BB-7177-41B6-B772-B8DE76BEE30A}" type="presParOf" srcId="{5A615C56-B9AD-46AD-B75E-6D513D96B5EE}" destId="{F0DCBD94-A4DE-4E68-B0BD-BD7A452A12FA}" srcOrd="1" destOrd="0" presId="urn:microsoft.com/office/officeart/2005/8/layout/hierarchy3"/>
    <dgm:cxn modelId="{9AC5CA60-92B6-4922-9304-FD65F7231ED6}" type="presParOf" srcId="{F0DCBD94-A4DE-4E68-B0BD-BD7A452A12FA}" destId="{B7777642-2ED1-4605-AEC4-6902776B35A7}" srcOrd="0" destOrd="0" presId="urn:microsoft.com/office/officeart/2005/8/layout/hierarchy3"/>
    <dgm:cxn modelId="{2A313BE9-6BC8-463C-B97B-C1C02E9076F1}" type="presParOf" srcId="{F0DCBD94-A4DE-4E68-B0BD-BD7A452A12FA}" destId="{C4F03575-B5C3-495C-96DE-9AD7F960934D}" srcOrd="1" destOrd="0" presId="urn:microsoft.com/office/officeart/2005/8/layout/hierarchy3"/>
    <dgm:cxn modelId="{CD381654-33BD-42C5-9883-387B642A17EB}" type="presParOf" srcId="{F0DCBD94-A4DE-4E68-B0BD-BD7A452A12FA}" destId="{37CAB83C-A28A-43E0-A148-45BB64622265}" srcOrd="2" destOrd="0" presId="urn:microsoft.com/office/officeart/2005/8/layout/hierarchy3"/>
    <dgm:cxn modelId="{B34D3E50-2E36-471A-AA2A-7A4E6423BE6F}" type="presParOf" srcId="{F0DCBD94-A4DE-4E68-B0BD-BD7A452A12FA}" destId="{61F78E8C-9D29-4FEE-AE90-2C2E2727EF02}" srcOrd="3" destOrd="0" presId="urn:microsoft.com/office/officeart/2005/8/layout/hierarchy3"/>
    <dgm:cxn modelId="{134E1680-EECF-4D81-BDE6-2447F6993E06}" type="presParOf" srcId="{F0DCBD94-A4DE-4E68-B0BD-BD7A452A12FA}" destId="{661E0332-A17E-4231-B48B-22A32E7A3482}" srcOrd="4" destOrd="0" presId="urn:microsoft.com/office/officeart/2005/8/layout/hierarchy3"/>
    <dgm:cxn modelId="{527E8B34-0A37-4135-A1B0-4D3913E483A0}" type="presParOf" srcId="{F0DCBD94-A4DE-4E68-B0BD-BD7A452A12FA}" destId="{E82B0F22-DCF6-437F-A727-0AF3442B78F2}" srcOrd="5" destOrd="0" presId="urn:microsoft.com/office/officeart/2005/8/layout/hierarchy3"/>
    <dgm:cxn modelId="{C4F9D9F2-CA50-4DB8-923F-8DF9DA863F1B}" type="presParOf" srcId="{F33A1989-C90A-431C-AA6E-8D9DAAB723F6}" destId="{4473322D-BDA5-4F1D-801A-F94D87F947DD}" srcOrd="3" destOrd="0" presId="urn:microsoft.com/office/officeart/2005/8/layout/hierarchy3"/>
    <dgm:cxn modelId="{23EF49DF-96B2-44A7-B8AC-8B2FCBFCD4AD}" type="presParOf" srcId="{4473322D-BDA5-4F1D-801A-F94D87F947DD}" destId="{2EB169F9-3DAD-4E80-8388-65C3B1D35DEC}" srcOrd="0" destOrd="0" presId="urn:microsoft.com/office/officeart/2005/8/layout/hierarchy3"/>
    <dgm:cxn modelId="{34B97EDA-BD4A-4662-95A4-0703936CF6A8}" type="presParOf" srcId="{2EB169F9-3DAD-4E80-8388-65C3B1D35DEC}" destId="{7BA0F54E-D5DB-438E-B973-C0002B399D05}" srcOrd="0" destOrd="0" presId="urn:microsoft.com/office/officeart/2005/8/layout/hierarchy3"/>
    <dgm:cxn modelId="{FEB1D221-5F57-4795-9406-D5753B916596}" type="presParOf" srcId="{2EB169F9-3DAD-4E80-8388-65C3B1D35DEC}" destId="{90F5724C-8B7A-4D88-B350-7C3ECB1710E1}" srcOrd="1" destOrd="0" presId="urn:microsoft.com/office/officeart/2005/8/layout/hierarchy3"/>
    <dgm:cxn modelId="{84330DC1-AC8B-492B-ADF4-6510916E9868}" type="presParOf" srcId="{4473322D-BDA5-4F1D-801A-F94D87F947DD}" destId="{EAB4B7B3-266E-4E33-979C-AB1CB17CD337}" srcOrd="1" destOrd="0" presId="urn:microsoft.com/office/officeart/2005/8/layout/hierarchy3"/>
    <dgm:cxn modelId="{9510E712-CE24-49DD-AB0E-67AFA2C4F371}" type="presParOf" srcId="{EAB4B7B3-266E-4E33-979C-AB1CB17CD337}" destId="{D2D5CD40-925E-43D9-8C82-101805A50C71}" srcOrd="0" destOrd="0" presId="urn:microsoft.com/office/officeart/2005/8/layout/hierarchy3"/>
    <dgm:cxn modelId="{43E218AE-C969-4C11-BD51-3AA3DDC80EDA}" type="presParOf" srcId="{EAB4B7B3-266E-4E33-979C-AB1CB17CD337}" destId="{CA29299D-4B73-40E8-A164-B151A59E4FC0}" srcOrd="1" destOrd="0" presId="urn:microsoft.com/office/officeart/2005/8/layout/hierarchy3"/>
    <dgm:cxn modelId="{44F2384B-8568-45C5-8785-7A05122C3CCD}" type="presParOf" srcId="{EAB4B7B3-266E-4E33-979C-AB1CB17CD337}" destId="{7837DBEE-250B-43C9-84E5-72D6AB923C3C}" srcOrd="2" destOrd="0" presId="urn:microsoft.com/office/officeart/2005/8/layout/hierarchy3"/>
    <dgm:cxn modelId="{9C2FBE7D-43D6-4298-83ED-1B69369739CF}" type="presParOf" srcId="{EAB4B7B3-266E-4E33-979C-AB1CB17CD337}" destId="{A5EBD6AD-D576-4272-9299-8E1F8E7DA3C8}" srcOrd="3" destOrd="0" presId="urn:microsoft.com/office/officeart/2005/8/layout/hierarchy3"/>
    <dgm:cxn modelId="{75591AD9-68DF-4F0E-9A3C-B44AE73CF733}" type="presParOf" srcId="{EAB4B7B3-266E-4E33-979C-AB1CB17CD337}" destId="{AB685E6A-8404-4D42-AA26-77D466227C22}" srcOrd="4" destOrd="0" presId="urn:microsoft.com/office/officeart/2005/8/layout/hierarchy3"/>
    <dgm:cxn modelId="{474ABC11-1B01-4B62-9267-B72831D352BC}" type="presParOf" srcId="{EAB4B7B3-266E-4E33-979C-AB1CB17CD337}" destId="{7A6602F6-B4BF-4543-B34F-61EE75A5DF9F}" srcOrd="5" destOrd="0" presId="urn:microsoft.com/office/officeart/2005/8/layout/hierarchy3"/>
    <dgm:cxn modelId="{53D43A6B-C8BA-490E-9CC5-BC62994FD9B5}" type="presParOf" srcId="{F33A1989-C90A-431C-AA6E-8D9DAAB723F6}" destId="{37209329-D9A5-4500-87B7-282AC87A45E8}" srcOrd="4" destOrd="0" presId="urn:microsoft.com/office/officeart/2005/8/layout/hierarchy3"/>
    <dgm:cxn modelId="{B7BD2E1C-01B6-476C-9B0E-C0475F36AE37}" type="presParOf" srcId="{37209329-D9A5-4500-87B7-282AC87A45E8}" destId="{73AE07EA-6505-43D6-81D4-8EC157374A39}" srcOrd="0" destOrd="0" presId="urn:microsoft.com/office/officeart/2005/8/layout/hierarchy3"/>
    <dgm:cxn modelId="{24B5316F-1B10-4545-A911-483825912767}" type="presParOf" srcId="{73AE07EA-6505-43D6-81D4-8EC157374A39}" destId="{0C327094-C90E-4340-9E07-6A1F511633C3}" srcOrd="0" destOrd="0" presId="urn:microsoft.com/office/officeart/2005/8/layout/hierarchy3"/>
    <dgm:cxn modelId="{A889C1D7-5A4B-4F56-B170-11652C05FDCB}" type="presParOf" srcId="{73AE07EA-6505-43D6-81D4-8EC157374A39}" destId="{0177B373-5DB0-4EC2-8353-DB372B262D47}" srcOrd="1" destOrd="0" presId="urn:microsoft.com/office/officeart/2005/8/layout/hierarchy3"/>
    <dgm:cxn modelId="{50545E4C-2B53-4DDB-80DB-E4558E406752}" type="presParOf" srcId="{37209329-D9A5-4500-87B7-282AC87A45E8}" destId="{DEA41781-3F11-45F2-936C-D161CED51690}" srcOrd="1" destOrd="0" presId="urn:microsoft.com/office/officeart/2005/8/layout/hierarchy3"/>
    <dgm:cxn modelId="{27BEEF94-5C46-494D-8449-C9440309EF08}" type="presParOf" srcId="{DEA41781-3F11-45F2-936C-D161CED51690}" destId="{BA486756-6189-4C34-9C9F-6B04DC3B28CA}" srcOrd="0" destOrd="0" presId="urn:microsoft.com/office/officeart/2005/8/layout/hierarchy3"/>
    <dgm:cxn modelId="{28B67023-8B8F-4EA9-9381-A3D149072B81}" type="presParOf" srcId="{DEA41781-3F11-45F2-936C-D161CED51690}" destId="{1587613C-9BFC-4A4A-A499-C2D46FADD229}" srcOrd="1" destOrd="0" presId="urn:microsoft.com/office/officeart/2005/8/layout/hierarchy3"/>
    <dgm:cxn modelId="{8AE3E3BA-CFAF-4AAE-9FD4-B8C9A8362566}" type="presParOf" srcId="{DEA41781-3F11-45F2-936C-D161CED51690}" destId="{A433A7E3-C2EA-41E6-AE4B-4E38913ED139}" srcOrd="2" destOrd="0" presId="urn:microsoft.com/office/officeart/2005/8/layout/hierarchy3"/>
    <dgm:cxn modelId="{449EF94A-C49D-4115-A9DF-804EE8AA711F}" type="presParOf" srcId="{DEA41781-3F11-45F2-936C-D161CED51690}" destId="{25878141-0996-4CEF-B96A-2B0EFBC3CC64}" srcOrd="3" destOrd="0" presId="urn:microsoft.com/office/officeart/2005/8/layout/hierarchy3"/>
    <dgm:cxn modelId="{55C75FBE-6AF7-4305-B5D2-26846924FEB0}" type="presParOf" srcId="{DEA41781-3F11-45F2-936C-D161CED51690}" destId="{221E93ED-1A5A-4790-AF9C-C159E3F4A561}" srcOrd="4" destOrd="0" presId="urn:microsoft.com/office/officeart/2005/8/layout/hierarchy3"/>
    <dgm:cxn modelId="{399E54D5-5416-4D3A-A0B5-03B73DCE469D}" type="presParOf" srcId="{DEA41781-3F11-45F2-936C-D161CED51690}" destId="{DC78C3F1-8DB6-43E1-952D-2E678B4A42C8}"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3FF3D1-BD9C-4F7E-8A50-B1EDEDACD069}">
      <dsp:nvSpPr>
        <dsp:cNvPr id="0" name=""/>
        <dsp:cNvSpPr/>
      </dsp:nvSpPr>
      <dsp:spPr>
        <a:xfrm>
          <a:off x="5616" y="729553"/>
          <a:ext cx="1915159" cy="95757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1" kern="1200"/>
            <a:t>Emergency Dental Services:</a:t>
          </a:r>
          <a:endParaRPr lang="en-US" sz="2100" kern="1200"/>
        </a:p>
      </dsp:txBody>
      <dsp:txXfrm>
        <a:off x="33663" y="757600"/>
        <a:ext cx="1859065" cy="901485"/>
      </dsp:txXfrm>
    </dsp:sp>
    <dsp:sp modelId="{3B860B37-D911-4CA7-8CCE-5FF65478B451}">
      <dsp:nvSpPr>
        <dsp:cNvPr id="0" name=""/>
        <dsp:cNvSpPr/>
      </dsp:nvSpPr>
      <dsp:spPr>
        <a:xfrm>
          <a:off x="197132" y="1687133"/>
          <a:ext cx="191515" cy="718184"/>
        </a:xfrm>
        <a:custGeom>
          <a:avLst/>
          <a:gdLst/>
          <a:ahLst/>
          <a:cxnLst/>
          <a:rect l="0" t="0" r="0" b="0"/>
          <a:pathLst>
            <a:path>
              <a:moveTo>
                <a:pt x="0" y="0"/>
              </a:moveTo>
              <a:lnTo>
                <a:pt x="0" y="718184"/>
              </a:lnTo>
              <a:lnTo>
                <a:pt x="191515" y="7181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B75D83-9ED9-4C9D-B719-56FF847F1AF0}">
      <dsp:nvSpPr>
        <dsp:cNvPr id="0" name=""/>
        <dsp:cNvSpPr/>
      </dsp:nvSpPr>
      <dsp:spPr>
        <a:xfrm>
          <a:off x="388648" y="1926528"/>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Toothache Relief:</a:t>
          </a:r>
          <a:r>
            <a:rPr lang="en-US" sz="1000" kern="1200"/>
            <a:t> Immediate care for sudden and severe tooth pain.</a:t>
          </a:r>
        </a:p>
      </dsp:txBody>
      <dsp:txXfrm>
        <a:off x="416695" y="1954575"/>
        <a:ext cx="1476033" cy="901485"/>
      </dsp:txXfrm>
    </dsp:sp>
    <dsp:sp modelId="{C0F3677A-9E99-4A54-A690-FE4C4357989E}">
      <dsp:nvSpPr>
        <dsp:cNvPr id="0" name=""/>
        <dsp:cNvSpPr/>
      </dsp:nvSpPr>
      <dsp:spPr>
        <a:xfrm>
          <a:off x="197132" y="1687133"/>
          <a:ext cx="191515" cy="1915159"/>
        </a:xfrm>
        <a:custGeom>
          <a:avLst/>
          <a:gdLst/>
          <a:ahLst/>
          <a:cxnLst/>
          <a:rect l="0" t="0" r="0" b="0"/>
          <a:pathLst>
            <a:path>
              <a:moveTo>
                <a:pt x="0" y="0"/>
              </a:moveTo>
              <a:lnTo>
                <a:pt x="0" y="1915159"/>
              </a:lnTo>
              <a:lnTo>
                <a:pt x="191515" y="191515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881274-813C-4A1D-B33B-8FADB89BD8F1}">
      <dsp:nvSpPr>
        <dsp:cNvPr id="0" name=""/>
        <dsp:cNvSpPr/>
      </dsp:nvSpPr>
      <dsp:spPr>
        <a:xfrm>
          <a:off x="388648" y="3123502"/>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519888"/>
              <a:satOff val="-1340"/>
              <a:lumOff val="-9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Broken, Chipped, or Knocked-Out Tooth:</a:t>
          </a:r>
          <a:r>
            <a:rPr lang="en-US" sz="1000" kern="1200"/>
            <a:t> Urgent treatment to repair or save a damaged tooth.</a:t>
          </a:r>
        </a:p>
      </dsp:txBody>
      <dsp:txXfrm>
        <a:off x="416695" y="3151549"/>
        <a:ext cx="1476033" cy="901485"/>
      </dsp:txXfrm>
    </dsp:sp>
    <dsp:sp modelId="{B7718687-D0E4-4FD5-B11F-8A551347F0BE}">
      <dsp:nvSpPr>
        <dsp:cNvPr id="0" name=""/>
        <dsp:cNvSpPr/>
      </dsp:nvSpPr>
      <dsp:spPr>
        <a:xfrm>
          <a:off x="197132" y="1687133"/>
          <a:ext cx="191515" cy="3112134"/>
        </a:xfrm>
        <a:custGeom>
          <a:avLst/>
          <a:gdLst/>
          <a:ahLst/>
          <a:cxnLst/>
          <a:rect l="0" t="0" r="0" b="0"/>
          <a:pathLst>
            <a:path>
              <a:moveTo>
                <a:pt x="0" y="0"/>
              </a:moveTo>
              <a:lnTo>
                <a:pt x="0" y="3112134"/>
              </a:lnTo>
              <a:lnTo>
                <a:pt x="191515" y="31121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62477-0310-4FF3-BEAC-D36A04B09987}">
      <dsp:nvSpPr>
        <dsp:cNvPr id="0" name=""/>
        <dsp:cNvSpPr/>
      </dsp:nvSpPr>
      <dsp:spPr>
        <a:xfrm>
          <a:off x="388648" y="4320477"/>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039776"/>
              <a:satOff val="-2680"/>
              <a:lumOff val="-181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Emergency Extractions:</a:t>
          </a:r>
          <a:r>
            <a:rPr lang="en-US" sz="1000" kern="1200"/>
            <a:t> Safe removal of a tooth that cannot be saved due to severe damage or infection.</a:t>
          </a:r>
        </a:p>
      </dsp:txBody>
      <dsp:txXfrm>
        <a:off x="416695" y="4348524"/>
        <a:ext cx="1476033" cy="901485"/>
      </dsp:txXfrm>
    </dsp:sp>
    <dsp:sp modelId="{C6548647-FA98-4642-9E53-8EA13B334224}">
      <dsp:nvSpPr>
        <dsp:cNvPr id="0" name=""/>
        <dsp:cNvSpPr/>
      </dsp:nvSpPr>
      <dsp:spPr>
        <a:xfrm>
          <a:off x="2399565" y="729553"/>
          <a:ext cx="1915159" cy="957579"/>
        </a:xfrm>
        <a:prstGeom prst="roundRect">
          <a:avLst>
            <a:gd name="adj" fmla="val 10000"/>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1" kern="1200" dirty="0"/>
            <a:t>Specialized Services:</a:t>
          </a:r>
          <a:endParaRPr lang="en-US" sz="2100" kern="1200" dirty="0"/>
        </a:p>
      </dsp:txBody>
      <dsp:txXfrm>
        <a:off x="2427612" y="757600"/>
        <a:ext cx="1859065" cy="901485"/>
      </dsp:txXfrm>
    </dsp:sp>
    <dsp:sp modelId="{C290D236-3742-4AD5-8C0A-295A305FE47F}">
      <dsp:nvSpPr>
        <dsp:cNvPr id="0" name=""/>
        <dsp:cNvSpPr/>
      </dsp:nvSpPr>
      <dsp:spPr>
        <a:xfrm>
          <a:off x="2591081" y="1687133"/>
          <a:ext cx="191515" cy="718184"/>
        </a:xfrm>
        <a:custGeom>
          <a:avLst/>
          <a:gdLst/>
          <a:ahLst/>
          <a:cxnLst/>
          <a:rect l="0" t="0" r="0" b="0"/>
          <a:pathLst>
            <a:path>
              <a:moveTo>
                <a:pt x="0" y="0"/>
              </a:moveTo>
              <a:lnTo>
                <a:pt x="0" y="718184"/>
              </a:lnTo>
              <a:lnTo>
                <a:pt x="191515" y="7181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0304A3A-58E0-41CF-AE73-E51E076B849C}">
      <dsp:nvSpPr>
        <dsp:cNvPr id="0" name=""/>
        <dsp:cNvSpPr/>
      </dsp:nvSpPr>
      <dsp:spPr>
        <a:xfrm>
          <a:off x="2782597" y="1926528"/>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1559664"/>
              <a:satOff val="-4020"/>
              <a:lumOff val="-27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Periodontal Care:</a:t>
          </a:r>
          <a:r>
            <a:rPr lang="en-US" sz="1000" kern="1200"/>
            <a:t> Treatment for gum diseases like gingivitis and periodontitis.</a:t>
          </a:r>
        </a:p>
      </dsp:txBody>
      <dsp:txXfrm>
        <a:off x="2810644" y="1954575"/>
        <a:ext cx="1476033" cy="901485"/>
      </dsp:txXfrm>
    </dsp:sp>
    <dsp:sp modelId="{B58153DF-5204-4417-8BF3-B1D96DE3A9BD}">
      <dsp:nvSpPr>
        <dsp:cNvPr id="0" name=""/>
        <dsp:cNvSpPr/>
      </dsp:nvSpPr>
      <dsp:spPr>
        <a:xfrm>
          <a:off x="2591081" y="1687133"/>
          <a:ext cx="191515" cy="1915159"/>
        </a:xfrm>
        <a:custGeom>
          <a:avLst/>
          <a:gdLst/>
          <a:ahLst/>
          <a:cxnLst/>
          <a:rect l="0" t="0" r="0" b="0"/>
          <a:pathLst>
            <a:path>
              <a:moveTo>
                <a:pt x="0" y="0"/>
              </a:moveTo>
              <a:lnTo>
                <a:pt x="0" y="1915159"/>
              </a:lnTo>
              <a:lnTo>
                <a:pt x="191515" y="191515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EE8C58-A141-481A-8080-B8B8840105B7}">
      <dsp:nvSpPr>
        <dsp:cNvPr id="0" name=""/>
        <dsp:cNvSpPr/>
      </dsp:nvSpPr>
      <dsp:spPr>
        <a:xfrm>
          <a:off x="2782597" y="3123502"/>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079552"/>
              <a:satOff val="-5360"/>
              <a:lumOff val="-362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TMJ/TMD Treatment:</a:t>
          </a:r>
          <a:r>
            <a:rPr lang="en-US" sz="1000" kern="1200"/>
            <a:t> Solutions for problems associated with the temporomandibular joint.</a:t>
          </a:r>
        </a:p>
      </dsp:txBody>
      <dsp:txXfrm>
        <a:off x="2810644" y="3151549"/>
        <a:ext cx="1476033" cy="901485"/>
      </dsp:txXfrm>
    </dsp:sp>
    <dsp:sp modelId="{57E00F8C-D734-4BDF-B874-98E101BD2BDF}">
      <dsp:nvSpPr>
        <dsp:cNvPr id="0" name=""/>
        <dsp:cNvSpPr/>
      </dsp:nvSpPr>
      <dsp:spPr>
        <a:xfrm>
          <a:off x="4793514" y="729553"/>
          <a:ext cx="1915159" cy="957579"/>
        </a:xfrm>
        <a:prstGeom prst="roundRect">
          <a:avLst>
            <a:gd name="adj" fmla="val 10000"/>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1" kern="1200"/>
            <a:t>Oral Surgery:</a:t>
          </a:r>
          <a:endParaRPr lang="en-US" sz="2100" kern="1200"/>
        </a:p>
      </dsp:txBody>
      <dsp:txXfrm>
        <a:off x="4821561" y="757600"/>
        <a:ext cx="1859065" cy="901485"/>
      </dsp:txXfrm>
    </dsp:sp>
    <dsp:sp modelId="{B7777642-2ED1-4605-AEC4-6902776B35A7}">
      <dsp:nvSpPr>
        <dsp:cNvPr id="0" name=""/>
        <dsp:cNvSpPr/>
      </dsp:nvSpPr>
      <dsp:spPr>
        <a:xfrm>
          <a:off x="4985030" y="1687133"/>
          <a:ext cx="191515" cy="718184"/>
        </a:xfrm>
        <a:custGeom>
          <a:avLst/>
          <a:gdLst/>
          <a:ahLst/>
          <a:cxnLst/>
          <a:rect l="0" t="0" r="0" b="0"/>
          <a:pathLst>
            <a:path>
              <a:moveTo>
                <a:pt x="0" y="0"/>
              </a:moveTo>
              <a:lnTo>
                <a:pt x="0" y="718184"/>
              </a:lnTo>
              <a:lnTo>
                <a:pt x="191515" y="7181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F03575-B5C3-495C-96DE-9AD7F960934D}">
      <dsp:nvSpPr>
        <dsp:cNvPr id="0" name=""/>
        <dsp:cNvSpPr/>
      </dsp:nvSpPr>
      <dsp:spPr>
        <a:xfrm>
          <a:off x="5176546" y="1926528"/>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2599440"/>
              <a:satOff val="-6700"/>
              <a:lumOff val="-45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Tooth Extractions:</a:t>
          </a:r>
          <a:r>
            <a:rPr lang="en-US" sz="1000" kern="1200"/>
            <a:t> Safe removal of damaged or decayed teeth, including wisdom teeth.</a:t>
          </a:r>
        </a:p>
      </dsp:txBody>
      <dsp:txXfrm>
        <a:off x="5204593" y="1954575"/>
        <a:ext cx="1476033" cy="901485"/>
      </dsp:txXfrm>
    </dsp:sp>
    <dsp:sp modelId="{37CAB83C-A28A-43E0-A148-45BB64622265}">
      <dsp:nvSpPr>
        <dsp:cNvPr id="0" name=""/>
        <dsp:cNvSpPr/>
      </dsp:nvSpPr>
      <dsp:spPr>
        <a:xfrm>
          <a:off x="4985030" y="1687133"/>
          <a:ext cx="191515" cy="1915159"/>
        </a:xfrm>
        <a:custGeom>
          <a:avLst/>
          <a:gdLst/>
          <a:ahLst/>
          <a:cxnLst/>
          <a:rect l="0" t="0" r="0" b="0"/>
          <a:pathLst>
            <a:path>
              <a:moveTo>
                <a:pt x="0" y="0"/>
              </a:moveTo>
              <a:lnTo>
                <a:pt x="0" y="1915159"/>
              </a:lnTo>
              <a:lnTo>
                <a:pt x="191515" y="191515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F78E8C-9D29-4FEE-AE90-2C2E2727EF02}">
      <dsp:nvSpPr>
        <dsp:cNvPr id="0" name=""/>
        <dsp:cNvSpPr/>
      </dsp:nvSpPr>
      <dsp:spPr>
        <a:xfrm>
          <a:off x="5176546" y="3123502"/>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119328"/>
              <a:satOff val="-8040"/>
              <a:lumOff val="-54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Bone Grafting:</a:t>
          </a:r>
          <a:r>
            <a:rPr lang="en-US" sz="1000" kern="1200"/>
            <a:t> For patients who lack sufficient natural bones for dental implants.</a:t>
          </a:r>
        </a:p>
      </dsp:txBody>
      <dsp:txXfrm>
        <a:off x="5204593" y="3151549"/>
        <a:ext cx="1476033" cy="901485"/>
      </dsp:txXfrm>
    </dsp:sp>
    <dsp:sp modelId="{661E0332-A17E-4231-B48B-22A32E7A3482}">
      <dsp:nvSpPr>
        <dsp:cNvPr id="0" name=""/>
        <dsp:cNvSpPr/>
      </dsp:nvSpPr>
      <dsp:spPr>
        <a:xfrm>
          <a:off x="4985030" y="1687133"/>
          <a:ext cx="191515" cy="3112134"/>
        </a:xfrm>
        <a:custGeom>
          <a:avLst/>
          <a:gdLst/>
          <a:ahLst/>
          <a:cxnLst/>
          <a:rect l="0" t="0" r="0" b="0"/>
          <a:pathLst>
            <a:path>
              <a:moveTo>
                <a:pt x="0" y="0"/>
              </a:moveTo>
              <a:lnTo>
                <a:pt x="0" y="3112134"/>
              </a:lnTo>
              <a:lnTo>
                <a:pt x="191515" y="31121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2B0F22-DCF6-437F-A727-0AF3442B78F2}">
      <dsp:nvSpPr>
        <dsp:cNvPr id="0" name=""/>
        <dsp:cNvSpPr/>
      </dsp:nvSpPr>
      <dsp:spPr>
        <a:xfrm>
          <a:off x="5176546" y="4320477"/>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3639215"/>
              <a:satOff val="-9379"/>
              <a:lumOff val="-633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Corrective Jaw Surgery:</a:t>
          </a:r>
          <a:r>
            <a:rPr lang="en-US" sz="1000" kern="1200"/>
            <a:t> To correct a wide range of skeletal and dental irregularities.</a:t>
          </a:r>
        </a:p>
      </dsp:txBody>
      <dsp:txXfrm>
        <a:off x="5204593" y="4348524"/>
        <a:ext cx="1476033" cy="901485"/>
      </dsp:txXfrm>
    </dsp:sp>
    <dsp:sp modelId="{7BA0F54E-D5DB-438E-B973-C0002B399D05}">
      <dsp:nvSpPr>
        <dsp:cNvPr id="0" name=""/>
        <dsp:cNvSpPr/>
      </dsp:nvSpPr>
      <dsp:spPr>
        <a:xfrm>
          <a:off x="7187464" y="729553"/>
          <a:ext cx="1915159" cy="957579"/>
        </a:xfrm>
        <a:prstGeom prst="roundRect">
          <a:avLst>
            <a:gd name="adj" fmla="val 10000"/>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1" kern="1200"/>
            <a:t>Sedation Dentistry:</a:t>
          </a:r>
          <a:endParaRPr lang="en-US" sz="2100" kern="1200"/>
        </a:p>
      </dsp:txBody>
      <dsp:txXfrm>
        <a:off x="7215511" y="757600"/>
        <a:ext cx="1859065" cy="901485"/>
      </dsp:txXfrm>
    </dsp:sp>
    <dsp:sp modelId="{D2D5CD40-925E-43D9-8C82-101805A50C71}">
      <dsp:nvSpPr>
        <dsp:cNvPr id="0" name=""/>
        <dsp:cNvSpPr/>
      </dsp:nvSpPr>
      <dsp:spPr>
        <a:xfrm>
          <a:off x="7378979" y="1687133"/>
          <a:ext cx="191515" cy="718184"/>
        </a:xfrm>
        <a:custGeom>
          <a:avLst/>
          <a:gdLst/>
          <a:ahLst/>
          <a:cxnLst/>
          <a:rect l="0" t="0" r="0" b="0"/>
          <a:pathLst>
            <a:path>
              <a:moveTo>
                <a:pt x="0" y="0"/>
              </a:moveTo>
              <a:lnTo>
                <a:pt x="0" y="718184"/>
              </a:lnTo>
              <a:lnTo>
                <a:pt x="191515" y="7181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29299D-4B73-40E8-A164-B151A59E4FC0}">
      <dsp:nvSpPr>
        <dsp:cNvPr id="0" name=""/>
        <dsp:cNvSpPr/>
      </dsp:nvSpPr>
      <dsp:spPr>
        <a:xfrm>
          <a:off x="7570495" y="1926528"/>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4159103"/>
              <a:satOff val="-10719"/>
              <a:lumOff val="-724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Nitrous Oxide (Laughing Gas):</a:t>
          </a:r>
          <a:r>
            <a:rPr lang="en-US" sz="1000" kern="1200"/>
            <a:t> Mild sedative for relaxation during dental procedures.</a:t>
          </a:r>
        </a:p>
      </dsp:txBody>
      <dsp:txXfrm>
        <a:off x="7598542" y="1954575"/>
        <a:ext cx="1476033" cy="901485"/>
      </dsp:txXfrm>
    </dsp:sp>
    <dsp:sp modelId="{7837DBEE-250B-43C9-84E5-72D6AB923C3C}">
      <dsp:nvSpPr>
        <dsp:cNvPr id="0" name=""/>
        <dsp:cNvSpPr/>
      </dsp:nvSpPr>
      <dsp:spPr>
        <a:xfrm>
          <a:off x="7378979" y="1687133"/>
          <a:ext cx="191515" cy="1915159"/>
        </a:xfrm>
        <a:custGeom>
          <a:avLst/>
          <a:gdLst/>
          <a:ahLst/>
          <a:cxnLst/>
          <a:rect l="0" t="0" r="0" b="0"/>
          <a:pathLst>
            <a:path>
              <a:moveTo>
                <a:pt x="0" y="0"/>
              </a:moveTo>
              <a:lnTo>
                <a:pt x="0" y="1915159"/>
              </a:lnTo>
              <a:lnTo>
                <a:pt x="191515" y="191515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EBD6AD-D576-4272-9299-8E1F8E7DA3C8}">
      <dsp:nvSpPr>
        <dsp:cNvPr id="0" name=""/>
        <dsp:cNvSpPr/>
      </dsp:nvSpPr>
      <dsp:spPr>
        <a:xfrm>
          <a:off x="7570495" y="3123502"/>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4678991"/>
              <a:satOff val="-12059"/>
              <a:lumOff val="-81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Oral Sedatives:</a:t>
          </a:r>
          <a:r>
            <a:rPr lang="en-US" sz="1000" kern="1200"/>
            <a:t> Prescribed before the dental appointment to reduce anxiety.</a:t>
          </a:r>
        </a:p>
      </dsp:txBody>
      <dsp:txXfrm>
        <a:off x="7598542" y="3151549"/>
        <a:ext cx="1476033" cy="901485"/>
      </dsp:txXfrm>
    </dsp:sp>
    <dsp:sp modelId="{AB685E6A-8404-4D42-AA26-77D466227C22}">
      <dsp:nvSpPr>
        <dsp:cNvPr id="0" name=""/>
        <dsp:cNvSpPr/>
      </dsp:nvSpPr>
      <dsp:spPr>
        <a:xfrm>
          <a:off x="7378979" y="1687133"/>
          <a:ext cx="191515" cy="3112134"/>
        </a:xfrm>
        <a:custGeom>
          <a:avLst/>
          <a:gdLst/>
          <a:ahLst/>
          <a:cxnLst/>
          <a:rect l="0" t="0" r="0" b="0"/>
          <a:pathLst>
            <a:path>
              <a:moveTo>
                <a:pt x="0" y="0"/>
              </a:moveTo>
              <a:lnTo>
                <a:pt x="0" y="3112134"/>
              </a:lnTo>
              <a:lnTo>
                <a:pt x="191515" y="31121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6602F6-B4BF-4543-B34F-61EE75A5DF9F}">
      <dsp:nvSpPr>
        <dsp:cNvPr id="0" name=""/>
        <dsp:cNvSpPr/>
      </dsp:nvSpPr>
      <dsp:spPr>
        <a:xfrm>
          <a:off x="7570495" y="4320477"/>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5198879"/>
              <a:satOff val="-13399"/>
              <a:lumOff val="-905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IV Sedation:</a:t>
          </a:r>
          <a:r>
            <a:rPr lang="en-US" sz="1000" kern="1200"/>
            <a:t> For more complex procedures or higher levels of anxiety.</a:t>
          </a:r>
        </a:p>
      </dsp:txBody>
      <dsp:txXfrm>
        <a:off x="7598542" y="4348524"/>
        <a:ext cx="1476033" cy="901485"/>
      </dsp:txXfrm>
    </dsp:sp>
    <dsp:sp modelId="{0C327094-C90E-4340-9E07-6A1F511633C3}">
      <dsp:nvSpPr>
        <dsp:cNvPr id="0" name=""/>
        <dsp:cNvSpPr/>
      </dsp:nvSpPr>
      <dsp:spPr>
        <a:xfrm>
          <a:off x="9581413" y="729553"/>
          <a:ext cx="1915159" cy="957579"/>
        </a:xfrm>
        <a:prstGeom prst="roundRect">
          <a:avLst>
            <a:gd name="adj" fmla="val 10000"/>
          </a:avLst>
        </a:prstGeom>
        <a:solidFill>
          <a:schemeClr val="accent5"/>
        </a:solidFill>
        <a:ln w="12700" cap="flat" cmpd="sng" algn="ctr">
          <a:solidFill>
            <a:schemeClr val="accent5">
              <a:shade val="15000"/>
            </a:schemeClr>
          </a:solidFill>
          <a:prstDash val="solid"/>
          <a:miter lim="800000"/>
        </a:ln>
        <a:effectLst/>
      </dsp:spPr>
      <dsp:style>
        <a:lnRef idx="2">
          <a:schemeClr val="accent5">
            <a:shade val="15000"/>
          </a:schemeClr>
        </a:lnRef>
        <a:fillRef idx="1">
          <a:schemeClr val="accent5"/>
        </a:fillRef>
        <a:effectRef idx="0">
          <a:schemeClr val="accent5"/>
        </a:effectRef>
        <a:fontRef idx="minor">
          <a:schemeClr val="lt1"/>
        </a:fontRef>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1" kern="1200" dirty="0"/>
            <a:t>Pediatric Dentistry:</a:t>
          </a:r>
          <a:endParaRPr lang="en-US" sz="2100" kern="1200" dirty="0"/>
        </a:p>
      </dsp:txBody>
      <dsp:txXfrm>
        <a:off x="9609460" y="757600"/>
        <a:ext cx="1859065" cy="901485"/>
      </dsp:txXfrm>
    </dsp:sp>
    <dsp:sp modelId="{BA486756-6189-4C34-9C9F-6B04DC3B28CA}">
      <dsp:nvSpPr>
        <dsp:cNvPr id="0" name=""/>
        <dsp:cNvSpPr/>
      </dsp:nvSpPr>
      <dsp:spPr>
        <a:xfrm>
          <a:off x="9772929" y="1687133"/>
          <a:ext cx="191515" cy="718184"/>
        </a:xfrm>
        <a:custGeom>
          <a:avLst/>
          <a:gdLst/>
          <a:ahLst/>
          <a:cxnLst/>
          <a:rect l="0" t="0" r="0" b="0"/>
          <a:pathLst>
            <a:path>
              <a:moveTo>
                <a:pt x="0" y="0"/>
              </a:moveTo>
              <a:lnTo>
                <a:pt x="0" y="718184"/>
              </a:lnTo>
              <a:lnTo>
                <a:pt x="191515" y="7181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87613C-9BFC-4A4A-A499-C2D46FADD229}">
      <dsp:nvSpPr>
        <dsp:cNvPr id="0" name=""/>
        <dsp:cNvSpPr/>
      </dsp:nvSpPr>
      <dsp:spPr>
        <a:xfrm>
          <a:off x="9964445" y="1926528"/>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5718767"/>
              <a:satOff val="-14739"/>
              <a:lumOff val="-99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Preventive Care and Education:</a:t>
          </a:r>
          <a:r>
            <a:rPr lang="en-US" sz="1000" kern="1200"/>
            <a:t> Focusing on early detection and teaching good oral hygiene habits.</a:t>
          </a:r>
        </a:p>
      </dsp:txBody>
      <dsp:txXfrm>
        <a:off x="9992492" y="1954575"/>
        <a:ext cx="1476033" cy="901485"/>
      </dsp:txXfrm>
    </dsp:sp>
    <dsp:sp modelId="{A433A7E3-C2EA-41E6-AE4B-4E38913ED139}">
      <dsp:nvSpPr>
        <dsp:cNvPr id="0" name=""/>
        <dsp:cNvSpPr/>
      </dsp:nvSpPr>
      <dsp:spPr>
        <a:xfrm>
          <a:off x="9772929" y="1687133"/>
          <a:ext cx="191515" cy="1915159"/>
        </a:xfrm>
        <a:custGeom>
          <a:avLst/>
          <a:gdLst/>
          <a:ahLst/>
          <a:cxnLst/>
          <a:rect l="0" t="0" r="0" b="0"/>
          <a:pathLst>
            <a:path>
              <a:moveTo>
                <a:pt x="0" y="0"/>
              </a:moveTo>
              <a:lnTo>
                <a:pt x="0" y="1915159"/>
              </a:lnTo>
              <a:lnTo>
                <a:pt x="191515" y="191515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878141-0996-4CEF-B96A-2B0EFBC3CC64}">
      <dsp:nvSpPr>
        <dsp:cNvPr id="0" name=""/>
        <dsp:cNvSpPr/>
      </dsp:nvSpPr>
      <dsp:spPr>
        <a:xfrm>
          <a:off x="9964445" y="3123502"/>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238655"/>
              <a:satOff val="-16079"/>
              <a:lumOff val="-108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Dental Sealants and Fluoride Treatments:</a:t>
          </a:r>
          <a:r>
            <a:rPr lang="en-US" sz="1000" kern="1200"/>
            <a:t> To protect young teeth from decay.</a:t>
          </a:r>
        </a:p>
      </dsp:txBody>
      <dsp:txXfrm>
        <a:off x="9992492" y="3151549"/>
        <a:ext cx="1476033" cy="901485"/>
      </dsp:txXfrm>
    </dsp:sp>
    <dsp:sp modelId="{221E93ED-1A5A-4790-AF9C-C159E3F4A561}">
      <dsp:nvSpPr>
        <dsp:cNvPr id="0" name=""/>
        <dsp:cNvSpPr/>
      </dsp:nvSpPr>
      <dsp:spPr>
        <a:xfrm>
          <a:off x="9772929" y="1687133"/>
          <a:ext cx="191515" cy="3112134"/>
        </a:xfrm>
        <a:custGeom>
          <a:avLst/>
          <a:gdLst/>
          <a:ahLst/>
          <a:cxnLst/>
          <a:rect l="0" t="0" r="0" b="0"/>
          <a:pathLst>
            <a:path>
              <a:moveTo>
                <a:pt x="0" y="0"/>
              </a:moveTo>
              <a:lnTo>
                <a:pt x="0" y="3112134"/>
              </a:lnTo>
              <a:lnTo>
                <a:pt x="191515" y="311213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C78C3F1-8DB6-43E1-952D-2E678B4A42C8}">
      <dsp:nvSpPr>
        <dsp:cNvPr id="0" name=""/>
        <dsp:cNvSpPr/>
      </dsp:nvSpPr>
      <dsp:spPr>
        <a:xfrm>
          <a:off x="9964445" y="4320477"/>
          <a:ext cx="1532127" cy="95757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b="1" kern="1200"/>
            <a:t>Orthodontic Evaluation:</a:t>
          </a:r>
          <a:r>
            <a:rPr lang="en-US" sz="1000" kern="1200"/>
            <a:t> Early assessment for potential teeth alignment issues</a:t>
          </a:r>
        </a:p>
      </dsp:txBody>
      <dsp:txXfrm>
        <a:off x="9992492" y="4348524"/>
        <a:ext cx="1476033" cy="90148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B7A887-F244-4939-89A5-32E0C2DA12F7}" type="datetimeFigureOut">
              <a:rPr lang="en-US" smtClean="0"/>
              <a:t>11/17/2023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F37B78-A354-499D-BFDB-E0D1E5C73B91}" type="slidenum">
              <a:rPr lang="en-US" smtClean="0"/>
              <a:t>‹#›</a:t>
            </a:fld>
            <a:endParaRPr lang="en-US"/>
          </a:p>
        </p:txBody>
      </p:sp>
    </p:spTree>
    <p:extLst>
      <p:ext uri="{BB962C8B-B14F-4D97-AF65-F5344CB8AC3E}">
        <p14:creationId xmlns:p14="http://schemas.microsoft.com/office/powerpoint/2010/main" val="4084718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78247-CE52-928B-7448-FE79217E6C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189A2A-DA8E-D99C-7369-B09ECC9C54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E229A1-7664-BF2C-5547-B8F5BC247F44}"/>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C7DE1DDC-B8F0-1D11-14A1-F6DAE29695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4301B-B3E0-9AE9-2A4E-0EC486FE8853}"/>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3959708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9692-1D88-4B44-49D4-CFF931311D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73DD95-1012-142D-7B82-E0629D86E9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A1839-F70A-388B-725B-54AE3001B552}"/>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E6E23E81-8326-5C76-AC6B-B5F863CE9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C2C61-70FE-EE28-EC8A-13547B1E9EB3}"/>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176031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C29A-2A91-7A12-D007-CE9F5B5728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B8FD0B-A67B-8363-091A-600F2647D7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C18D70-AA31-2C30-702D-79F295779462}"/>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A7FF088F-CF00-89B1-4CD3-E1FE05C46C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E5A76-B1CD-888C-7FC6-8F925541DD95}"/>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2434449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07B4-1D27-60AA-B87E-5C0DFB1068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B385C1-D405-4571-3369-B5A0F09458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F58830-4A4F-3166-B4B6-50B0FA4B98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BBFC51-9A7A-2901-52E5-9D1861F0C0D1}"/>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6" name="Footer Placeholder 5">
            <a:extLst>
              <a:ext uri="{FF2B5EF4-FFF2-40B4-BE49-F238E27FC236}">
                <a16:creationId xmlns:a16="http://schemas.microsoft.com/office/drawing/2014/main" id="{A4F7DE9E-70B8-AB73-FDCE-04503D8189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9807CC-7571-D740-7DEE-B8CED8DA5FF6}"/>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3372694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CE260-AE34-167F-4946-C2EEF8AFE3A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2EB0CC-D537-6EE3-18A7-FCB215E3A4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E66FE1-4BAD-9056-B1F6-E88DF774E9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F388F3-B607-E3C7-DDA1-81D60D36C4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F9DBD8-BDE9-799A-07DF-656B1D0A59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A65D57-F510-9B4D-B6AA-2A725948398C}"/>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8" name="Footer Placeholder 7">
            <a:extLst>
              <a:ext uri="{FF2B5EF4-FFF2-40B4-BE49-F238E27FC236}">
                <a16:creationId xmlns:a16="http://schemas.microsoft.com/office/drawing/2014/main" id="{09AAE790-C397-9FBF-FA60-A4DDEF017B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D74591-C7FC-07E9-1753-1CEAEA780CFC}"/>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786151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20CBB-B429-78F4-2BBE-892DE15C92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BEC9A7-B890-98A2-60EA-1890EB0AEE51}"/>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4" name="Footer Placeholder 3">
            <a:extLst>
              <a:ext uri="{FF2B5EF4-FFF2-40B4-BE49-F238E27FC236}">
                <a16:creationId xmlns:a16="http://schemas.microsoft.com/office/drawing/2014/main" id="{24DD4B4C-F769-B932-0C7A-954C542479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2D3EE1-A53C-40DF-61EB-AB892585859B}"/>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426192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117F29-18B3-1FB3-7BEE-1E54896AE0B3}"/>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3" name="Footer Placeholder 2">
            <a:extLst>
              <a:ext uri="{FF2B5EF4-FFF2-40B4-BE49-F238E27FC236}">
                <a16:creationId xmlns:a16="http://schemas.microsoft.com/office/drawing/2014/main" id="{E48C480E-5C33-BC81-397D-2143600564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642D2E-FCDA-3693-09E2-00F51648E6AD}"/>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43424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41224-582F-0D07-17FD-F941E15614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5CFE17-BE85-CE88-B6E1-214FC58A75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54F915-601C-173B-6509-7E0FC7907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DF924-FAD4-6DF3-DC35-863D3DB0896F}"/>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6" name="Footer Placeholder 5">
            <a:extLst>
              <a:ext uri="{FF2B5EF4-FFF2-40B4-BE49-F238E27FC236}">
                <a16:creationId xmlns:a16="http://schemas.microsoft.com/office/drawing/2014/main" id="{2783054C-7B98-E612-4232-1ACD14A47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94787-8F0A-7D28-B780-442540627A0F}"/>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3065469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A8870-1B4F-8087-7D18-97849EC84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94846E-C257-9210-3221-CBE5269390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96B8CE-0886-7598-7844-D0618309EB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203BFD-9497-5B2B-1964-72BF90AB458B}"/>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6" name="Footer Placeholder 5">
            <a:extLst>
              <a:ext uri="{FF2B5EF4-FFF2-40B4-BE49-F238E27FC236}">
                <a16:creationId xmlns:a16="http://schemas.microsoft.com/office/drawing/2014/main" id="{51379860-DC76-F748-D503-6556D4D1F2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6C0252-795B-4398-B2C4-BBE7C1401D46}"/>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607530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933C5-1917-F1A9-4385-D7F98631EF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88C220-BBBD-5EA2-9AFC-D7E543E701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18CA71-3105-F014-16FC-F9B1D7F05DC0}"/>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BA324016-7A2C-763B-E172-109698FC3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F86AC1-1E92-757D-3089-49A9A52F7226}"/>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385128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8AA631-159A-82A4-6FF8-2B0DACC518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0965F5-2B4C-957C-326B-AFC4389CEC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D5B6FF-7FDE-DA6F-F9B1-C04108EDBD8E}"/>
              </a:ext>
            </a:extLst>
          </p:cNvPr>
          <p:cNvSpPr>
            <a:spLocks noGrp="1"/>
          </p:cNvSpPr>
          <p:nvPr>
            <p:ph type="dt" sz="half" idx="10"/>
          </p:nvPr>
        </p:nvSpPr>
        <p:spPr/>
        <p:txBody>
          <a:body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9FC2901F-6059-08C3-1AA1-AB2F781E4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198D07-A0B3-A2AA-C60F-EC2C5A5466C6}"/>
              </a:ext>
            </a:extLst>
          </p:cNvPr>
          <p:cNvSpPr>
            <a:spLocks noGrp="1"/>
          </p:cNvSpPr>
          <p:nvPr>
            <p:ph type="sldNum" sz="quarter" idx="12"/>
          </p:nvPr>
        </p:nvSpPr>
        <p:spPr/>
        <p:txBody>
          <a:bodyPr/>
          <a:lstStyle/>
          <a:p>
            <a:fld id="{21442F17-A109-42B6-AF65-46ECA587E993}" type="slidenum">
              <a:rPr lang="en-US" smtClean="0"/>
              <a:t>‹#›</a:t>
            </a:fld>
            <a:endParaRPr lang="en-US"/>
          </a:p>
        </p:txBody>
      </p:sp>
    </p:spTree>
    <p:extLst>
      <p:ext uri="{BB962C8B-B14F-4D97-AF65-F5344CB8AC3E}">
        <p14:creationId xmlns:p14="http://schemas.microsoft.com/office/powerpoint/2010/main" val="2494358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987D4-FC72-2101-6C3B-5BAE7646BF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A1FA8C-7491-14F0-5E79-BA25293198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F65260-FE24-B70E-8840-4AD420F89A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2BF8AF-D18F-4DA5-9CC5-812C91D1A534}" type="datetimeFigureOut">
              <a:rPr lang="en-US" smtClean="0"/>
              <a:t>11/17/2023</a:t>
            </a:fld>
            <a:endParaRPr lang="en-US"/>
          </a:p>
        </p:txBody>
      </p:sp>
      <p:sp>
        <p:nvSpPr>
          <p:cNvPr id="5" name="Footer Placeholder 4">
            <a:extLst>
              <a:ext uri="{FF2B5EF4-FFF2-40B4-BE49-F238E27FC236}">
                <a16:creationId xmlns:a16="http://schemas.microsoft.com/office/drawing/2014/main" id="{8C658947-888D-B3C6-FB84-2AA5A39A7B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F9CA53C-8964-02F5-777F-31CC68152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442F17-A109-42B6-AF65-46ECA587E993}" type="slidenum">
              <a:rPr lang="en-US" smtClean="0"/>
              <a:t>‹#›</a:t>
            </a:fld>
            <a:endParaRPr lang="en-US"/>
          </a:p>
        </p:txBody>
      </p:sp>
    </p:spTree>
    <p:extLst>
      <p:ext uri="{BB962C8B-B14F-4D97-AF65-F5344CB8AC3E}">
        <p14:creationId xmlns:p14="http://schemas.microsoft.com/office/powerpoint/2010/main" val="949410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tcdentistry.ddns.net/"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A66DAF-9546-0218-1714-FE1D78025646}"/>
              </a:ext>
            </a:extLst>
          </p:cNvPr>
          <p:cNvSpPr>
            <a:spLocks noGrp="1"/>
          </p:cNvSpPr>
          <p:nvPr>
            <p:ph type="ctrTitle"/>
          </p:nvPr>
        </p:nvSpPr>
        <p:spPr>
          <a:xfrm>
            <a:off x="6380988" y="2774463"/>
            <a:ext cx="4805996" cy="1297115"/>
          </a:xfrm>
        </p:spPr>
        <p:txBody>
          <a:bodyPr anchor="t">
            <a:normAutofit/>
          </a:bodyPr>
          <a:lstStyle/>
          <a:p>
            <a:pPr algn="l"/>
            <a:r>
              <a:rPr lang="en-US" dirty="0">
                <a:solidFill>
                  <a:schemeClr val="tx2"/>
                </a:solidFill>
              </a:rPr>
              <a:t>DTC Dentistry</a:t>
            </a:r>
          </a:p>
        </p:txBody>
      </p:sp>
      <p:sp>
        <p:nvSpPr>
          <p:cNvPr id="3" name="Subtitle 2">
            <a:extLst>
              <a:ext uri="{FF2B5EF4-FFF2-40B4-BE49-F238E27FC236}">
                <a16:creationId xmlns:a16="http://schemas.microsoft.com/office/drawing/2014/main" id="{7F78541A-4EA8-1C48-D42A-F87DA7FDF7B3}"/>
              </a:ext>
            </a:extLst>
          </p:cNvPr>
          <p:cNvSpPr>
            <a:spLocks noGrp="1"/>
          </p:cNvSpPr>
          <p:nvPr>
            <p:ph type="subTitle" idx="1"/>
          </p:nvPr>
        </p:nvSpPr>
        <p:spPr>
          <a:xfrm>
            <a:off x="6381293" y="3886200"/>
            <a:ext cx="4805691" cy="838831"/>
          </a:xfrm>
        </p:spPr>
        <p:txBody>
          <a:bodyPr anchor="b">
            <a:noAutofit/>
          </a:bodyPr>
          <a:lstStyle/>
          <a:p>
            <a:pPr algn="l"/>
            <a:r>
              <a:rPr lang="en-US" sz="3200" dirty="0">
                <a:solidFill>
                  <a:schemeClr val="tx2"/>
                </a:solidFill>
              </a:rPr>
              <a:t>By Josh High</a:t>
            </a:r>
            <a:br>
              <a:rPr lang="en-US" sz="3200" dirty="0">
                <a:solidFill>
                  <a:schemeClr val="tx2"/>
                </a:solidFill>
              </a:rPr>
            </a:br>
            <a:endParaRPr lang="en-US" sz="3200" dirty="0">
              <a:solidFill>
                <a:schemeClr val="tx2"/>
              </a:solidFill>
            </a:endParaRPr>
          </a:p>
        </p:txBody>
      </p:sp>
      <p:pic>
        <p:nvPicPr>
          <p:cNvPr id="1026" name="Picture 2">
            <a:extLst>
              <a:ext uri="{FF2B5EF4-FFF2-40B4-BE49-F238E27FC236}">
                <a16:creationId xmlns:a16="http://schemas.microsoft.com/office/drawing/2014/main" id="{6EF4D70C-D294-9965-DC0B-6CA2DBCD187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82630" y="1697277"/>
            <a:ext cx="3657439" cy="4377846"/>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grpSp>
        <p:nvGrpSpPr>
          <p:cNvPr id="1035" name="Group 103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036" name="Freeform: Shape 103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Freeform: Shape 103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8" name="Freeform: Shape 103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extBox 3">
            <a:extLst>
              <a:ext uri="{FF2B5EF4-FFF2-40B4-BE49-F238E27FC236}">
                <a16:creationId xmlns:a16="http://schemas.microsoft.com/office/drawing/2014/main" id="{2EF55806-440A-DC1D-6DBF-4A38667B76CF}"/>
              </a:ext>
            </a:extLst>
          </p:cNvPr>
          <p:cNvSpPr txBox="1"/>
          <p:nvPr/>
        </p:nvSpPr>
        <p:spPr>
          <a:xfrm>
            <a:off x="6675120" y="4917440"/>
            <a:ext cx="4653280" cy="800219"/>
          </a:xfrm>
          <a:prstGeom prst="rect">
            <a:avLst/>
          </a:prstGeom>
          <a:noFill/>
        </p:spPr>
        <p:txBody>
          <a:bodyPr wrap="square" rtlCol="0">
            <a:spAutoFit/>
          </a:bodyPr>
          <a:lstStyle/>
          <a:p>
            <a:r>
              <a:rPr lang="en-US" sz="2800" dirty="0">
                <a:hlinkClick r:id="rId3"/>
              </a:rPr>
              <a:t>https://dtcdentistry.ddns.net</a:t>
            </a:r>
            <a:endParaRPr lang="en-US" sz="2800" dirty="0"/>
          </a:p>
          <a:p>
            <a:endParaRPr lang="en-US" dirty="0"/>
          </a:p>
        </p:txBody>
      </p:sp>
    </p:spTree>
    <p:extLst>
      <p:ext uri="{BB962C8B-B14F-4D97-AF65-F5344CB8AC3E}">
        <p14:creationId xmlns:p14="http://schemas.microsoft.com/office/powerpoint/2010/main" val="34177269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0" name="Rectangle 205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Rectangle 206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screenshot of a computer&#10;&#10;Description automatically generated">
            <a:extLst>
              <a:ext uri="{FF2B5EF4-FFF2-40B4-BE49-F238E27FC236}">
                <a16:creationId xmlns:a16="http://schemas.microsoft.com/office/drawing/2014/main" id="{D4A91E60-C10B-967D-2ED2-3BDCD59846B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9"/>
          <a:stretch/>
        </p:blipFill>
        <p:spPr bwMode="auto">
          <a:xfrm>
            <a:off x="1142996" y="643467"/>
            <a:ext cx="9906007" cy="55710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 blue and white logo&#10;&#10;Description automatically generated">
            <a:extLst>
              <a:ext uri="{FF2B5EF4-FFF2-40B4-BE49-F238E27FC236}">
                <a16:creationId xmlns:a16="http://schemas.microsoft.com/office/drawing/2014/main" id="{D8EB2EB4-96DB-2F7F-A9CB-97CBE2E95F5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8129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346AF3F-6CD5-C5DF-8E29-17F5575D59B4}"/>
              </a:ext>
            </a:extLst>
          </p:cNvPr>
          <p:cNvPicPr>
            <a:picLocks noChangeAspect="1"/>
          </p:cNvPicPr>
          <p:nvPr/>
        </p:nvPicPr>
        <p:blipFill rotWithShape="1">
          <a:blip r:embed="rId2">
            <a:alphaModFix/>
          </a:blip>
          <a:srcRect t="2131" r="-1" b="-1"/>
          <a:stretch/>
        </p:blipFill>
        <p:spPr>
          <a:xfrm>
            <a:off x="5833976" y="10"/>
            <a:ext cx="6394152" cy="6857990"/>
          </a:xfrm>
          <a:prstGeom prst="rect">
            <a:avLst/>
          </a:prstGeom>
        </p:spPr>
      </p:pic>
      <p:grpSp>
        <p:nvGrpSpPr>
          <p:cNvPr id="56" name="Group 55">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79564" y="0"/>
            <a:ext cx="6648564" cy="6858000"/>
            <a:chOff x="5705128" y="0"/>
            <a:chExt cx="6648564" cy="6858000"/>
          </a:xfrm>
        </p:grpSpPr>
        <p:sp>
          <p:nvSpPr>
            <p:cNvPr id="57" name="Freeform: Shape 56">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0" name="Freeform: Shape 59">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CFB16FA5-52A2-83D4-2C2F-9014FFB2227C}"/>
              </a:ext>
            </a:extLst>
          </p:cNvPr>
          <p:cNvSpPr txBox="1"/>
          <p:nvPr/>
        </p:nvSpPr>
        <p:spPr>
          <a:xfrm>
            <a:off x="150111" y="-477520"/>
            <a:ext cx="5945736" cy="8148855"/>
          </a:xfrm>
          <a:prstGeom prst="rect">
            <a:avLst/>
          </a:prstGeom>
        </p:spPr>
        <p:txBody>
          <a:bodyPr vert="horz" lIns="91440" tIns="45720" rIns="91440" bIns="45720" rtlCol="0" anchor="ctr">
            <a:normAutofit/>
          </a:bodyPr>
          <a:lstStyle/>
          <a:p>
            <a:pPr>
              <a:lnSpc>
                <a:spcPct val="90000"/>
              </a:lnSpc>
              <a:spcAft>
                <a:spcPts val="600"/>
              </a:spcAft>
            </a:pPr>
            <a:r>
              <a:rPr lang="en-US" sz="1600" b="1" i="0" dirty="0">
                <a:solidFill>
                  <a:schemeClr val="tx2"/>
                </a:solidFill>
                <a:effectLst/>
              </a:rPr>
              <a:t>Dr. James </a:t>
            </a:r>
            <a:r>
              <a:rPr lang="en-US" sz="1600" b="1" i="0" dirty="0" err="1">
                <a:solidFill>
                  <a:schemeClr val="tx2"/>
                </a:solidFill>
                <a:effectLst/>
              </a:rPr>
              <a:t>Whitetooth</a:t>
            </a:r>
            <a:r>
              <a:rPr lang="en-US" sz="1600" b="1" i="0" dirty="0">
                <a:solidFill>
                  <a:schemeClr val="tx2"/>
                </a:solidFill>
                <a:effectLst/>
              </a:rPr>
              <a:t>, DDS</a:t>
            </a:r>
            <a:endParaRPr lang="en-US" sz="1600" b="0" i="0" dirty="0">
              <a:solidFill>
                <a:schemeClr val="tx2"/>
              </a:solidFill>
              <a:effectLst/>
            </a:endParaRPr>
          </a:p>
          <a:p>
            <a:pPr>
              <a:lnSpc>
                <a:spcPct val="90000"/>
              </a:lnSpc>
              <a:spcAft>
                <a:spcPts val="600"/>
              </a:spcAft>
            </a:pPr>
            <a:r>
              <a:rPr lang="en-US" sz="1600" b="0" i="0" dirty="0">
                <a:solidFill>
                  <a:schemeClr val="tx2"/>
                </a:solidFill>
                <a:effectLst/>
              </a:rPr>
              <a:t>Meet Dr. James </a:t>
            </a:r>
            <a:r>
              <a:rPr lang="en-US" sz="1600" b="0" i="0" dirty="0" err="1">
                <a:solidFill>
                  <a:schemeClr val="tx2"/>
                </a:solidFill>
                <a:effectLst/>
              </a:rPr>
              <a:t>Whitetooth</a:t>
            </a:r>
            <a:r>
              <a:rPr lang="en-US" sz="1600" b="0" i="0" dirty="0">
                <a:solidFill>
                  <a:schemeClr val="tx2"/>
                </a:solidFill>
                <a:effectLst/>
              </a:rPr>
              <a:t>, DDS, a distinguished figure in the field of dentistry with a remarkable track record of fulfilling a wide array of dental needs with utmost professionalism. Dr. </a:t>
            </a:r>
            <a:r>
              <a:rPr lang="en-US" sz="1600" b="0" i="0" dirty="0" err="1">
                <a:solidFill>
                  <a:schemeClr val="tx2"/>
                </a:solidFill>
                <a:effectLst/>
              </a:rPr>
              <a:t>Whitetooth’s</a:t>
            </a:r>
            <a:r>
              <a:rPr lang="en-US" sz="1600" b="0" i="0" dirty="0">
                <a:solidFill>
                  <a:schemeClr val="tx2"/>
                </a:solidFill>
                <a:effectLst/>
              </a:rPr>
              <a:t> journey in dentistry began with his graduation from a renowned dental school, where he excelled both academically and in clinical practice.</a:t>
            </a:r>
          </a:p>
          <a:p>
            <a:pPr>
              <a:lnSpc>
                <a:spcPct val="90000"/>
              </a:lnSpc>
              <a:spcAft>
                <a:spcPts val="600"/>
              </a:spcAft>
            </a:pPr>
            <a:r>
              <a:rPr lang="en-US" sz="1600" b="0" i="0" dirty="0">
                <a:solidFill>
                  <a:schemeClr val="tx2"/>
                </a:solidFill>
                <a:effectLst/>
              </a:rPr>
              <a:t>With over a decade of experience, Dr. </a:t>
            </a:r>
            <a:r>
              <a:rPr lang="en-US" sz="1600" b="0" i="0" dirty="0" err="1">
                <a:solidFill>
                  <a:schemeClr val="tx2"/>
                </a:solidFill>
                <a:effectLst/>
              </a:rPr>
              <a:t>Whitetooth</a:t>
            </a:r>
            <a:r>
              <a:rPr lang="en-US" sz="1600" b="0" i="0" dirty="0">
                <a:solidFill>
                  <a:schemeClr val="tx2"/>
                </a:solidFill>
                <a:effectLst/>
              </a:rPr>
              <a:t> has mastered the art and science of dentistry. He is renowned for his technical precision, innovative approach, and a deep understanding of the latest dental techniques and technologies. His expertise spans from routine dental care to complex cosmetic and restorative procedures, making him a one-stop solution for all dental concerns.</a:t>
            </a:r>
          </a:p>
          <a:p>
            <a:pPr>
              <a:lnSpc>
                <a:spcPct val="90000"/>
              </a:lnSpc>
              <a:spcAft>
                <a:spcPts val="600"/>
              </a:spcAft>
            </a:pPr>
            <a:r>
              <a:rPr lang="en-US" sz="1600" b="0" i="0" dirty="0">
                <a:solidFill>
                  <a:schemeClr val="tx2"/>
                </a:solidFill>
                <a:effectLst/>
              </a:rPr>
              <a:t>Dr. </a:t>
            </a:r>
            <a:r>
              <a:rPr lang="en-US" sz="1600" b="0" i="0" dirty="0" err="1">
                <a:solidFill>
                  <a:schemeClr val="tx2"/>
                </a:solidFill>
                <a:effectLst/>
              </a:rPr>
              <a:t>Whitetooth’s</a:t>
            </a:r>
            <a:r>
              <a:rPr lang="en-US" sz="1600" b="0" i="0" dirty="0">
                <a:solidFill>
                  <a:schemeClr val="tx2"/>
                </a:solidFill>
                <a:effectLst/>
              </a:rPr>
              <a:t> practice is built on a foundation of trust and excellence. He believes in creating a personalized experience for each patient, understanding that each individual’s dental needs are unique. His approach is holistic; he not only addresses dental issues but also educates his patients on maintaining optimal oral health, thus fostering a proactive attitude towards dental care.</a:t>
            </a:r>
          </a:p>
          <a:p>
            <a:pPr>
              <a:lnSpc>
                <a:spcPct val="90000"/>
              </a:lnSpc>
              <a:spcAft>
                <a:spcPts val="600"/>
              </a:spcAft>
            </a:pPr>
            <a:r>
              <a:rPr lang="en-US" sz="1600" b="0" i="0" dirty="0">
                <a:solidFill>
                  <a:schemeClr val="tx2"/>
                </a:solidFill>
                <a:effectLst/>
              </a:rPr>
              <a:t>His clinic is a testament to his commitment to quality care, equipped with state-of-the-art dental technology. This, combined with his meticulous skill, ensures that every procedure, whether a simple cleaning or a sophisticated implant, is performed to the highest standards.</a:t>
            </a:r>
          </a:p>
          <a:p>
            <a:pPr>
              <a:lnSpc>
                <a:spcPct val="90000"/>
              </a:lnSpc>
              <a:spcAft>
                <a:spcPts val="600"/>
              </a:spcAft>
            </a:pPr>
            <a:r>
              <a:rPr lang="en-US" sz="1600" b="0" i="0" dirty="0">
                <a:solidFill>
                  <a:schemeClr val="tx2"/>
                </a:solidFill>
                <a:effectLst/>
              </a:rPr>
              <a:t>Patients often commend Dr. </a:t>
            </a:r>
            <a:r>
              <a:rPr lang="en-US" sz="1600" b="0" i="0" dirty="0" err="1">
                <a:solidFill>
                  <a:schemeClr val="tx2"/>
                </a:solidFill>
                <a:effectLst/>
              </a:rPr>
              <a:t>Whitetooth</a:t>
            </a:r>
            <a:r>
              <a:rPr lang="en-US" sz="1600" b="0" i="0" dirty="0">
                <a:solidFill>
                  <a:schemeClr val="tx2"/>
                </a:solidFill>
                <a:effectLst/>
              </a:rPr>
              <a:t> for his ability to make dental visits a comfortable and stress-free experience. His warm, friendly demeanor and clear communication help ease the anxieties often associated with dental procedures. He is particularly adept at working with patients who have dental phobias, ensuring they feel safe and relaxed throughout their treatment.</a:t>
            </a:r>
          </a:p>
          <a:p>
            <a:pPr indent="-228600">
              <a:lnSpc>
                <a:spcPct val="90000"/>
              </a:lnSpc>
              <a:spcAft>
                <a:spcPts val="600"/>
              </a:spcAft>
              <a:buFont typeface="Arial" panose="020B0604020202020204" pitchFamily="34" charset="0"/>
              <a:buChar char="•"/>
            </a:pPr>
            <a:endParaRPr lang="en-US" sz="1000" dirty="0">
              <a:solidFill>
                <a:schemeClr val="tx2"/>
              </a:solidFill>
            </a:endParaRPr>
          </a:p>
        </p:txBody>
      </p:sp>
      <p:pic>
        <p:nvPicPr>
          <p:cNvPr id="20" name="Picture 2">
            <a:extLst>
              <a:ext uri="{FF2B5EF4-FFF2-40B4-BE49-F238E27FC236}">
                <a16:creationId xmlns:a16="http://schemas.microsoft.com/office/drawing/2014/main" id="{850F2823-D75C-2198-F323-2CEABCE129D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88800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6E35013-999D-C9D9-CD5D-A4D6FE2652FA}"/>
              </a:ext>
            </a:extLst>
          </p:cNvPr>
          <p:cNvPicPr>
            <a:picLocks noChangeAspect="1"/>
          </p:cNvPicPr>
          <p:nvPr/>
        </p:nvPicPr>
        <p:blipFill rotWithShape="1">
          <a:blip r:embed="rId2">
            <a:alphaModFix/>
          </a:blip>
          <a:srcRect r="-3" b="787"/>
          <a:stretch/>
        </p:blipFill>
        <p:spPr>
          <a:xfrm>
            <a:off x="5833976" y="10"/>
            <a:ext cx="6394152" cy="6857990"/>
          </a:xfrm>
          <a:prstGeom prst="rect">
            <a:avLst/>
          </a:prstGeom>
        </p:spPr>
      </p:pic>
      <p:grpSp>
        <p:nvGrpSpPr>
          <p:cNvPr id="12" name="Group 11">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79564" y="0"/>
            <a:ext cx="6648564" cy="6858000"/>
            <a:chOff x="5705128" y="0"/>
            <a:chExt cx="6648564" cy="6858000"/>
          </a:xfrm>
        </p:grpSpPr>
        <p:sp>
          <p:nvSpPr>
            <p:cNvPr id="13" name="Freeform: Shape 12">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CC732EAD-DE75-A1DD-D140-315F88DB074D}"/>
              </a:ext>
            </a:extLst>
          </p:cNvPr>
          <p:cNvSpPr>
            <a:spLocks noGrp="1"/>
          </p:cNvSpPr>
          <p:nvPr>
            <p:ph idx="1"/>
          </p:nvPr>
        </p:nvSpPr>
        <p:spPr>
          <a:xfrm>
            <a:off x="85488" y="0"/>
            <a:ext cx="6132432" cy="6858000"/>
          </a:xfrm>
        </p:spPr>
        <p:txBody>
          <a:bodyPr anchor="ctr">
            <a:normAutofit lnSpcReduction="10000"/>
          </a:bodyPr>
          <a:lstStyle/>
          <a:p>
            <a:pPr marL="0" indent="0">
              <a:buNone/>
            </a:pPr>
            <a:r>
              <a:rPr lang="en-US" sz="1600" b="1" i="0" dirty="0">
                <a:solidFill>
                  <a:schemeClr val="tx2"/>
                </a:solidFill>
                <a:effectLst/>
                <a:latin typeface="Inter"/>
              </a:rPr>
              <a:t>Dr. Colette Early, DDS</a:t>
            </a:r>
            <a:endParaRPr lang="en-US" sz="1600" b="0" i="0" dirty="0">
              <a:solidFill>
                <a:schemeClr val="tx2"/>
              </a:solidFill>
              <a:effectLst/>
              <a:latin typeface="Inter"/>
            </a:endParaRPr>
          </a:p>
          <a:p>
            <a:pPr marL="0" indent="0">
              <a:buNone/>
            </a:pPr>
            <a:r>
              <a:rPr lang="en-US" sz="1600" b="0" i="0" dirty="0">
                <a:solidFill>
                  <a:schemeClr val="tx2"/>
                </a:solidFill>
                <a:effectLst/>
                <a:latin typeface="Inter"/>
              </a:rPr>
              <a:t>Dr. Colette Early, DDS, stands as a beacon of excellence in the dental community, renowned for her exceptional skills, innovative techniques, and compassionate approach to patient care. With a career that spans over fifteen years, Dr. Early has established herself not only as a highly skilled dentist but also as a visionary in her field.</a:t>
            </a:r>
          </a:p>
          <a:p>
            <a:pPr marL="0" indent="0">
              <a:buNone/>
            </a:pPr>
            <a:r>
              <a:rPr lang="en-US" sz="1600" b="0" i="0" dirty="0">
                <a:solidFill>
                  <a:schemeClr val="tx2"/>
                </a:solidFill>
                <a:effectLst/>
                <a:latin typeface="Inter"/>
              </a:rPr>
              <a:t>A graduate of a prestigious dental school, Dr. Early distinguished herself early in her career through her meticulous attention to detail and her profound commitment to patient well-being. Her expertise covers a wide range of dental procedures, with a particular focus on cosmetic dentistry, where she has been recognized for her ability to transform smiles with artistry and precision.</a:t>
            </a:r>
          </a:p>
          <a:p>
            <a:pPr marL="0" indent="0">
              <a:buNone/>
            </a:pPr>
            <a:r>
              <a:rPr lang="en-US" sz="1600" b="0" i="0" dirty="0">
                <a:solidFill>
                  <a:schemeClr val="tx2"/>
                </a:solidFill>
                <a:effectLst/>
                <a:latin typeface="Inter"/>
              </a:rPr>
              <a:t>Dr. Early’s practice is grounded in the philosophy that excellent dental care is a blend of science, art, and personalized attention. She is known for her holistic approach, considering each patient’s overall health and individual needs when crafting their dental care plans. This patient-centric focus has earned her a loyal patient base who value not just her technical prowess but her empathetic and understanding nature.</a:t>
            </a:r>
          </a:p>
          <a:p>
            <a:pPr marL="0" indent="0">
              <a:buNone/>
            </a:pPr>
            <a:r>
              <a:rPr lang="en-US" sz="1600" b="0" i="0" dirty="0">
                <a:solidFill>
                  <a:schemeClr val="tx2"/>
                </a:solidFill>
                <a:effectLst/>
                <a:latin typeface="Inter"/>
              </a:rPr>
              <a:t>In the realm of cosmetic dentistry, Dr. Early has been a pioneer, adopting and refining new techniques that enhance both the aesthetic and functional aspects of dental treatments. Her work in this area has not only benefited her patients but also advanced the practice of cosmetic dentistry as a whole.</a:t>
            </a:r>
          </a:p>
          <a:p>
            <a:pPr marL="0" indent="0">
              <a:buNone/>
            </a:pPr>
            <a:r>
              <a:rPr lang="en-US" sz="1600" b="0" i="0" dirty="0">
                <a:solidFill>
                  <a:schemeClr val="tx2"/>
                </a:solidFill>
                <a:effectLst/>
                <a:latin typeface="Inter"/>
              </a:rPr>
              <a:t>Beyond her clinical excellence, Dr. Early is a respected leader and mentor in the dental community. She frequently participates in dental symposiums and workshops, sharing her knowledge and experiences with peers and young professionals. Her research and articles on various aspects of dental health and innovations have been published in leading dental journals.</a:t>
            </a:r>
          </a:p>
          <a:p>
            <a:endParaRPr lang="en-US" sz="900" dirty="0">
              <a:solidFill>
                <a:schemeClr val="tx2"/>
              </a:solidFill>
            </a:endParaRPr>
          </a:p>
        </p:txBody>
      </p:sp>
      <p:pic>
        <p:nvPicPr>
          <p:cNvPr id="6" name="Picture 2">
            <a:extLst>
              <a:ext uri="{FF2B5EF4-FFF2-40B4-BE49-F238E27FC236}">
                <a16:creationId xmlns:a16="http://schemas.microsoft.com/office/drawing/2014/main" id="{64813A01-9077-19D9-C79D-DF5D91427B6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195535"/>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E965DB6-FB55-1BF4-4380-800DF3131F0C}"/>
              </a:ext>
            </a:extLst>
          </p:cNvPr>
          <p:cNvSpPr txBox="1"/>
          <p:nvPr/>
        </p:nvSpPr>
        <p:spPr>
          <a:xfrm>
            <a:off x="1016668" y="-569459"/>
            <a:ext cx="9829800" cy="132588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600" kern="1200">
                <a:solidFill>
                  <a:schemeClr val="tx2"/>
                </a:solidFill>
                <a:latin typeface="+mj-lt"/>
                <a:ea typeface="+mj-ea"/>
                <a:cs typeface="+mj-cs"/>
              </a:rPr>
              <a:t>Services</a:t>
            </a:r>
          </a:p>
        </p:txBody>
      </p:sp>
      <p:grpSp>
        <p:nvGrpSpPr>
          <p:cNvPr id="58" name="Group 57">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59" name="Freeform: Shape 58">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49">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EC7713B9-6252-78E0-923B-EA3AB19B8067}"/>
              </a:ext>
            </a:extLst>
          </p:cNvPr>
          <p:cNvSpPr>
            <a:spLocks noGrp="1"/>
          </p:cNvSpPr>
          <p:nvPr>
            <p:ph idx="1"/>
          </p:nvPr>
        </p:nvSpPr>
        <p:spPr>
          <a:xfrm>
            <a:off x="95331" y="664143"/>
            <a:ext cx="5917213" cy="6119870"/>
          </a:xfrm>
        </p:spPr>
        <p:txBody>
          <a:bodyPr vert="horz" lIns="91440" tIns="45720" rIns="91440" bIns="45720" rtlCol="0" anchor="ctr">
            <a:normAutofit lnSpcReduction="10000"/>
          </a:bodyPr>
          <a:lstStyle/>
          <a:p>
            <a:pPr marL="0"/>
            <a:endParaRPr lang="en-US" sz="1400" b="0" i="0" dirty="0">
              <a:solidFill>
                <a:schemeClr val="tx2"/>
              </a:solidFill>
              <a:effectLst/>
            </a:endParaRPr>
          </a:p>
          <a:p>
            <a:pPr marL="0" indent="0">
              <a:buNone/>
            </a:pPr>
            <a:r>
              <a:rPr lang="en-US" sz="1400" b="1" i="0" dirty="0">
                <a:solidFill>
                  <a:schemeClr val="tx2"/>
                </a:solidFill>
                <a:effectLst/>
              </a:rPr>
              <a:t>Preventive Care:</a:t>
            </a:r>
            <a:endParaRPr lang="en-US" sz="1400" b="0" i="0" dirty="0">
              <a:solidFill>
                <a:schemeClr val="tx2"/>
              </a:solidFill>
              <a:effectLst/>
            </a:endParaRPr>
          </a:p>
          <a:p>
            <a:pPr marL="514350" lvl="1" indent="0">
              <a:buNone/>
            </a:pPr>
            <a:r>
              <a:rPr lang="en-US" sz="1400" b="1" i="0" dirty="0">
                <a:solidFill>
                  <a:schemeClr val="tx2"/>
                </a:solidFill>
                <a:effectLst/>
              </a:rPr>
              <a:t>Routine Check-ups and Cleanings:</a:t>
            </a:r>
            <a:r>
              <a:rPr lang="en-US" sz="1400" b="0" i="0" dirty="0">
                <a:solidFill>
                  <a:schemeClr val="tx2"/>
                </a:solidFill>
                <a:effectLst/>
              </a:rPr>
              <a:t> Regular dental examinations, including X-rays when necessary, to monitor oral health. Professional cleanings to remove plaque and tartar build-up that can’t be eliminated by brushing and flossing alone.</a:t>
            </a:r>
          </a:p>
          <a:p>
            <a:pPr marL="514350" lvl="1" indent="0">
              <a:buNone/>
            </a:pPr>
            <a:r>
              <a:rPr lang="en-US" sz="1400" b="1" i="0" dirty="0">
                <a:solidFill>
                  <a:schemeClr val="tx2"/>
                </a:solidFill>
                <a:effectLst/>
              </a:rPr>
              <a:t>Oral Cancer Screenings:</a:t>
            </a:r>
            <a:r>
              <a:rPr lang="en-US" sz="1400" b="0" i="0" dirty="0">
                <a:solidFill>
                  <a:schemeClr val="tx2"/>
                </a:solidFill>
                <a:effectLst/>
              </a:rPr>
              <a:t> Early detection of any signs of oral cancer, vital for effective treatment.</a:t>
            </a:r>
          </a:p>
          <a:p>
            <a:pPr marL="514350" lvl="1" indent="0">
              <a:buNone/>
            </a:pPr>
            <a:r>
              <a:rPr lang="en-US" sz="1400" b="1" i="0" dirty="0">
                <a:solidFill>
                  <a:schemeClr val="tx2"/>
                </a:solidFill>
                <a:effectLst/>
              </a:rPr>
              <a:t>Dental Sealants and Fluoride Treatments:</a:t>
            </a:r>
            <a:r>
              <a:rPr lang="en-US" sz="1400" b="0" i="0" dirty="0">
                <a:solidFill>
                  <a:schemeClr val="tx2"/>
                </a:solidFill>
                <a:effectLst/>
              </a:rPr>
              <a:t> These help protect teeth, especially in children, from decay.</a:t>
            </a:r>
          </a:p>
          <a:p>
            <a:pPr marL="0" indent="0">
              <a:buNone/>
            </a:pPr>
            <a:r>
              <a:rPr lang="en-US" sz="1400" b="1" i="0" dirty="0">
                <a:solidFill>
                  <a:schemeClr val="tx2"/>
                </a:solidFill>
                <a:effectLst/>
              </a:rPr>
              <a:t>Restorative Care:</a:t>
            </a:r>
            <a:endParaRPr lang="en-US" sz="1400" b="0" i="0" dirty="0">
              <a:solidFill>
                <a:schemeClr val="tx2"/>
              </a:solidFill>
              <a:effectLst/>
            </a:endParaRPr>
          </a:p>
          <a:p>
            <a:pPr marL="514350" lvl="1" indent="0">
              <a:buNone/>
            </a:pPr>
            <a:r>
              <a:rPr lang="en-US" sz="1400" b="1" i="0" dirty="0">
                <a:solidFill>
                  <a:schemeClr val="tx2"/>
                </a:solidFill>
                <a:effectLst/>
              </a:rPr>
              <a:t>Fillings:</a:t>
            </a:r>
            <a:r>
              <a:rPr lang="en-US" sz="1400" b="0" i="0" dirty="0">
                <a:solidFill>
                  <a:schemeClr val="tx2"/>
                </a:solidFill>
                <a:effectLst/>
              </a:rPr>
              <a:t> Treatment for cavities, using materials like composite resin or amalgam to restore the integrity of the tooth.</a:t>
            </a:r>
          </a:p>
          <a:p>
            <a:pPr marL="514350" lvl="1" indent="0">
              <a:buNone/>
            </a:pPr>
            <a:r>
              <a:rPr lang="en-US" sz="1400" b="1" i="0" dirty="0">
                <a:solidFill>
                  <a:schemeClr val="tx2"/>
                </a:solidFill>
                <a:effectLst/>
              </a:rPr>
              <a:t>Crowns and Bridges:</a:t>
            </a:r>
            <a:r>
              <a:rPr lang="en-US" sz="1400" b="0" i="0" dirty="0">
                <a:solidFill>
                  <a:schemeClr val="tx2"/>
                </a:solidFill>
                <a:effectLst/>
              </a:rPr>
              <a:t> Custom-made restorations for damaged or missing teeth. Crowns cover a damaged tooth or a dental implant, while bridges span the space where one or more teeth are missing.</a:t>
            </a:r>
          </a:p>
          <a:p>
            <a:pPr marL="514350" lvl="1" indent="0">
              <a:buNone/>
            </a:pPr>
            <a:r>
              <a:rPr lang="en-US" sz="1400" b="1" i="0" dirty="0">
                <a:solidFill>
                  <a:schemeClr val="tx2"/>
                </a:solidFill>
                <a:effectLst/>
              </a:rPr>
              <a:t>Dentures and Partial Dentures:</a:t>
            </a:r>
            <a:r>
              <a:rPr lang="en-US" sz="1400" b="0" i="0" dirty="0">
                <a:solidFill>
                  <a:schemeClr val="tx2"/>
                </a:solidFill>
                <a:effectLst/>
              </a:rPr>
              <a:t> Replacement options for missing teeth, ranging from full dentures (for complete tooth loss) to partials for those who still have some natural teeth.</a:t>
            </a:r>
          </a:p>
          <a:p>
            <a:pPr marL="514350" lvl="1" indent="0">
              <a:buNone/>
            </a:pPr>
            <a:r>
              <a:rPr lang="en-US" sz="1400" b="1" i="0" dirty="0">
                <a:solidFill>
                  <a:schemeClr val="tx2"/>
                </a:solidFill>
                <a:effectLst/>
              </a:rPr>
              <a:t>Root Canal Therapy:</a:t>
            </a:r>
            <a:r>
              <a:rPr lang="en-US" sz="1400" b="0" i="0" dirty="0">
                <a:solidFill>
                  <a:schemeClr val="tx2"/>
                </a:solidFill>
                <a:effectLst/>
              </a:rPr>
              <a:t> Treatment for infected or inflamed tooth pulp, saving a tooth that might otherwise need to be extracted.</a:t>
            </a:r>
          </a:p>
          <a:p>
            <a:pPr marL="0" indent="0">
              <a:buNone/>
            </a:pPr>
            <a:r>
              <a:rPr lang="en-US" sz="1400" b="1" i="0" dirty="0">
                <a:solidFill>
                  <a:schemeClr val="tx2"/>
                </a:solidFill>
                <a:effectLst/>
              </a:rPr>
              <a:t>Cosmetic Dentistry:</a:t>
            </a:r>
            <a:endParaRPr lang="en-US" sz="1400" b="0" i="0" dirty="0">
              <a:solidFill>
                <a:schemeClr val="tx2"/>
              </a:solidFill>
              <a:effectLst/>
            </a:endParaRPr>
          </a:p>
          <a:p>
            <a:pPr marL="514350" lvl="1" indent="0">
              <a:buNone/>
            </a:pPr>
            <a:r>
              <a:rPr lang="en-US" sz="1400" b="1" i="0" dirty="0">
                <a:solidFill>
                  <a:schemeClr val="tx2"/>
                </a:solidFill>
                <a:effectLst/>
              </a:rPr>
              <a:t>Teeth Whitening:</a:t>
            </a:r>
            <a:r>
              <a:rPr lang="en-US" sz="1400" b="0" i="0" dirty="0">
                <a:solidFill>
                  <a:schemeClr val="tx2"/>
                </a:solidFill>
                <a:effectLst/>
              </a:rPr>
              <a:t> Professional bleaching services to brighten and whiten teeth.</a:t>
            </a:r>
          </a:p>
          <a:p>
            <a:pPr marL="514350" lvl="1" indent="0">
              <a:buNone/>
            </a:pPr>
            <a:r>
              <a:rPr lang="en-US" sz="1400" b="1" i="0" dirty="0">
                <a:solidFill>
                  <a:schemeClr val="tx2"/>
                </a:solidFill>
                <a:effectLst/>
              </a:rPr>
              <a:t>Veneers:</a:t>
            </a:r>
            <a:r>
              <a:rPr lang="en-US" sz="1400" b="0" i="0" dirty="0">
                <a:solidFill>
                  <a:schemeClr val="tx2"/>
                </a:solidFill>
                <a:effectLst/>
              </a:rPr>
              <a:t> Thin, custom-made shells designed to cover the front surface of teeth to improve appearance.</a:t>
            </a:r>
          </a:p>
          <a:p>
            <a:pPr marL="514350" lvl="1" indent="0">
              <a:buNone/>
            </a:pPr>
            <a:r>
              <a:rPr lang="en-US" sz="1400" b="1" i="0" dirty="0">
                <a:solidFill>
                  <a:schemeClr val="tx2"/>
                </a:solidFill>
                <a:effectLst/>
              </a:rPr>
              <a:t>Orthodontics:</a:t>
            </a:r>
            <a:r>
              <a:rPr lang="en-US" sz="1400" b="0" i="0" dirty="0">
                <a:solidFill>
                  <a:schemeClr val="tx2"/>
                </a:solidFill>
                <a:effectLst/>
              </a:rPr>
              <a:t> Including traditional braces and clear aligners like Invisalign, for teeth straightening and correcting bite issues.</a:t>
            </a:r>
          </a:p>
          <a:p>
            <a:pPr marL="0"/>
            <a:endParaRPr lang="en-US" sz="500" dirty="0">
              <a:solidFill>
                <a:schemeClr val="tx2"/>
              </a:solidFill>
            </a:endParaRPr>
          </a:p>
        </p:txBody>
      </p:sp>
      <p:grpSp>
        <p:nvGrpSpPr>
          <p:cNvPr id="52" name="Group 51">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53" name="Freeform: Shape 52">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6" name="Freeform: Shape 55">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Toothbrush">
            <a:extLst>
              <a:ext uri="{FF2B5EF4-FFF2-40B4-BE49-F238E27FC236}">
                <a16:creationId xmlns:a16="http://schemas.microsoft.com/office/drawing/2014/main" id="{907E6832-9580-BC1C-1BEF-14BDEC568F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644413">
            <a:off x="7448291" y="3698501"/>
            <a:ext cx="4186054" cy="4186054"/>
          </a:xfrm>
          <a:prstGeom prst="rect">
            <a:avLst/>
          </a:prstGeom>
        </p:spPr>
      </p:pic>
      <p:sp>
        <p:nvSpPr>
          <p:cNvPr id="6" name="TextBox 5">
            <a:extLst>
              <a:ext uri="{FF2B5EF4-FFF2-40B4-BE49-F238E27FC236}">
                <a16:creationId xmlns:a16="http://schemas.microsoft.com/office/drawing/2014/main" id="{D07D084A-EFCB-077A-92FC-EDCE5B0C1F76}"/>
              </a:ext>
            </a:extLst>
          </p:cNvPr>
          <p:cNvSpPr txBox="1"/>
          <p:nvPr/>
        </p:nvSpPr>
        <p:spPr>
          <a:xfrm>
            <a:off x="6012544" y="961660"/>
            <a:ext cx="6112424" cy="3539430"/>
          </a:xfrm>
          <a:prstGeom prst="rect">
            <a:avLst/>
          </a:prstGeom>
          <a:noFill/>
        </p:spPr>
        <p:txBody>
          <a:bodyPr wrap="square">
            <a:spAutoFit/>
          </a:bodyPr>
          <a:lstStyle/>
          <a:p>
            <a:r>
              <a:rPr lang="en-US" sz="1400" b="1" i="0" dirty="0">
                <a:solidFill>
                  <a:schemeClr val="tx2"/>
                </a:solidFill>
                <a:effectLst/>
              </a:rPr>
              <a:t>Implant Dentistry:</a:t>
            </a:r>
            <a:endParaRPr lang="en-US" sz="1400" b="0" i="0" dirty="0">
              <a:solidFill>
                <a:schemeClr val="tx2"/>
              </a:solidFill>
              <a:effectLst/>
            </a:endParaRPr>
          </a:p>
          <a:p>
            <a:pPr marL="742950" lvl="1"/>
            <a:r>
              <a:rPr lang="en-US" sz="1400" b="1" i="0" dirty="0">
                <a:solidFill>
                  <a:schemeClr val="tx2"/>
                </a:solidFill>
                <a:effectLst/>
              </a:rPr>
              <a:t>Single Tooth Implants:</a:t>
            </a:r>
            <a:r>
              <a:rPr lang="en-US" sz="1400" b="0" i="0" dirty="0">
                <a:solidFill>
                  <a:schemeClr val="tx2"/>
                </a:solidFill>
                <a:effectLst/>
              </a:rPr>
              <a:t> For replacing a missing tooth without affecting neighboring teeth.</a:t>
            </a:r>
          </a:p>
          <a:p>
            <a:pPr marL="742950" lvl="1"/>
            <a:r>
              <a:rPr lang="en-US" sz="1400" b="1" i="0" dirty="0">
                <a:solidFill>
                  <a:schemeClr val="tx2"/>
                </a:solidFill>
                <a:effectLst/>
              </a:rPr>
              <a:t>Implant-Supported Bridges:</a:t>
            </a:r>
            <a:r>
              <a:rPr lang="en-US" sz="1400" b="0" i="0" dirty="0">
                <a:solidFill>
                  <a:schemeClr val="tx2"/>
                </a:solidFill>
                <a:effectLst/>
              </a:rPr>
              <a:t> Ideal for multiple missing teeth, offering a more stable solution than traditional bridges.</a:t>
            </a:r>
          </a:p>
          <a:p>
            <a:pPr marL="742950" lvl="1"/>
            <a:r>
              <a:rPr lang="en-US" sz="1400" b="1" i="0" dirty="0">
                <a:solidFill>
                  <a:schemeClr val="tx2"/>
                </a:solidFill>
                <a:effectLst/>
              </a:rPr>
              <a:t>All-on-4 Implants:</a:t>
            </a:r>
            <a:r>
              <a:rPr lang="en-US" sz="1400" b="0" i="0" dirty="0">
                <a:solidFill>
                  <a:schemeClr val="tx2"/>
                </a:solidFill>
                <a:effectLst/>
              </a:rPr>
              <a:t> A full-arch restoration using only four implants, providing a permanent, screw-retained replacement for the entire upper and/or lower set of teeth.</a:t>
            </a:r>
          </a:p>
          <a:p>
            <a:r>
              <a:rPr lang="en-US" sz="1400" b="1" i="0" dirty="0">
                <a:solidFill>
                  <a:schemeClr val="tx2"/>
                </a:solidFill>
                <a:effectLst/>
              </a:rPr>
              <a:t>Orthodontics:</a:t>
            </a:r>
            <a:endParaRPr lang="en-US" sz="1400" b="0" i="0" dirty="0">
              <a:solidFill>
                <a:schemeClr val="tx2"/>
              </a:solidFill>
              <a:effectLst/>
            </a:endParaRPr>
          </a:p>
          <a:p>
            <a:pPr marL="742950" lvl="1"/>
            <a:r>
              <a:rPr lang="en-US" sz="1400" b="1" i="0" dirty="0">
                <a:solidFill>
                  <a:schemeClr val="tx2"/>
                </a:solidFill>
                <a:effectLst/>
              </a:rPr>
              <a:t>Traditional Braces:</a:t>
            </a:r>
            <a:r>
              <a:rPr lang="en-US" sz="1400" b="0" i="0" dirty="0">
                <a:solidFill>
                  <a:schemeClr val="tx2"/>
                </a:solidFill>
                <a:effectLst/>
              </a:rPr>
              <a:t> Metal braces for effective teeth straightening.</a:t>
            </a:r>
          </a:p>
          <a:p>
            <a:pPr marL="742950" lvl="1"/>
            <a:r>
              <a:rPr lang="en-US" sz="1400" b="1" i="0" dirty="0">
                <a:solidFill>
                  <a:schemeClr val="tx2"/>
                </a:solidFill>
                <a:effectLst/>
              </a:rPr>
              <a:t>Ceramic Braces:</a:t>
            </a:r>
            <a:r>
              <a:rPr lang="en-US" sz="1400" b="0" i="0" dirty="0">
                <a:solidFill>
                  <a:schemeClr val="tx2"/>
                </a:solidFill>
                <a:effectLst/>
              </a:rPr>
              <a:t> Less noticeable than metal braces, using clear or tooth-colored brackets.</a:t>
            </a:r>
          </a:p>
          <a:p>
            <a:pPr marL="742950" lvl="1"/>
            <a:r>
              <a:rPr lang="en-US" sz="1400" b="1" i="0" dirty="0">
                <a:solidFill>
                  <a:schemeClr val="tx2"/>
                </a:solidFill>
                <a:effectLst/>
              </a:rPr>
              <a:t>Lingual Braces:</a:t>
            </a:r>
            <a:r>
              <a:rPr lang="en-US" sz="1400" b="0" i="0" dirty="0">
                <a:solidFill>
                  <a:schemeClr val="tx2"/>
                </a:solidFill>
                <a:effectLst/>
              </a:rPr>
              <a:t> Custom-made braces placed on the backside of teeth, hidden from view.</a:t>
            </a:r>
          </a:p>
          <a:p>
            <a:pPr marL="742950" lvl="1"/>
            <a:r>
              <a:rPr lang="en-US" sz="1400" b="1" i="0" dirty="0">
                <a:solidFill>
                  <a:schemeClr val="tx2"/>
                </a:solidFill>
                <a:effectLst/>
              </a:rPr>
              <a:t>Invisalign:</a:t>
            </a:r>
            <a:r>
              <a:rPr lang="en-US" sz="1400" b="0" i="0" dirty="0">
                <a:solidFill>
                  <a:schemeClr val="tx2"/>
                </a:solidFill>
                <a:effectLst/>
              </a:rPr>
              <a:t> Clear aligners, a less visible and removable alternative to braces.</a:t>
            </a:r>
          </a:p>
        </p:txBody>
      </p:sp>
      <p:pic>
        <p:nvPicPr>
          <p:cNvPr id="8" name="Picture 2">
            <a:extLst>
              <a:ext uri="{FF2B5EF4-FFF2-40B4-BE49-F238E27FC236}">
                <a16:creationId xmlns:a16="http://schemas.microsoft.com/office/drawing/2014/main" id="{EB4FA3B9-EA57-FDA0-0F41-A9279B812F8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26133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5223-1D4B-3B76-67B9-CC2CC5D0CA89}"/>
              </a:ext>
            </a:extLst>
          </p:cNvPr>
          <p:cNvSpPr>
            <a:spLocks noGrp="1"/>
          </p:cNvSpPr>
          <p:nvPr>
            <p:ph type="title"/>
          </p:nvPr>
        </p:nvSpPr>
        <p:spPr>
          <a:xfrm>
            <a:off x="838199" y="110605"/>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dirty="0"/>
              <a:t>Other Services</a:t>
            </a:r>
          </a:p>
        </p:txBody>
      </p:sp>
      <p:graphicFrame>
        <p:nvGraphicFramePr>
          <p:cNvPr id="4" name="TextBox 7">
            <a:extLst>
              <a:ext uri="{FF2B5EF4-FFF2-40B4-BE49-F238E27FC236}">
                <a16:creationId xmlns:a16="http://schemas.microsoft.com/office/drawing/2014/main" id="{5055D86E-F93F-0172-CD69-354F783C44C5}"/>
              </a:ext>
            </a:extLst>
          </p:cNvPr>
          <p:cNvGraphicFramePr/>
          <p:nvPr>
            <p:extLst>
              <p:ext uri="{D42A27DB-BD31-4B8C-83A1-F6EECF244321}">
                <p14:modId xmlns:p14="http://schemas.microsoft.com/office/powerpoint/2010/main" val="977385751"/>
              </p:ext>
            </p:extLst>
          </p:nvPr>
        </p:nvGraphicFramePr>
        <p:xfrm>
          <a:off x="344905" y="850389"/>
          <a:ext cx="11502189" cy="6007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2">
            <a:extLst>
              <a:ext uri="{FF2B5EF4-FFF2-40B4-BE49-F238E27FC236}">
                <a16:creationId xmlns:a16="http://schemas.microsoft.com/office/drawing/2014/main" id="{C6E32877-FE5B-2ED2-132F-9330136B11D5}"/>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24565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Isosceles Triangle 3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service form&#10;&#10;Description automatically generated">
            <a:extLst>
              <a:ext uri="{FF2B5EF4-FFF2-40B4-BE49-F238E27FC236}">
                <a16:creationId xmlns:a16="http://schemas.microsoft.com/office/drawing/2014/main" id="{B006883D-DC9E-6AA3-3D89-1BF79C23ACF7}"/>
              </a:ext>
            </a:extLst>
          </p:cNvPr>
          <p:cNvPicPr>
            <a:picLocks noChangeAspect="1"/>
          </p:cNvPicPr>
          <p:nvPr/>
        </p:nvPicPr>
        <p:blipFill rotWithShape="1">
          <a:blip r:embed="rId2"/>
          <a:srcRect t="387" r="-3" b="-3"/>
          <a:stretch/>
        </p:blipFill>
        <p:spPr>
          <a:xfrm>
            <a:off x="1889353" y="544436"/>
            <a:ext cx="7714076" cy="5571065"/>
          </a:xfrm>
          <a:prstGeom prst="rect">
            <a:avLst/>
          </a:prstGeom>
          <a:ln>
            <a:noFill/>
          </a:ln>
        </p:spPr>
      </p:pic>
      <p:sp>
        <p:nvSpPr>
          <p:cNvPr id="34" name="Isosceles Triangle 3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337233BD-D6BD-59AF-5477-899A1CD8FFC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204616"/>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2CBC72D-735F-11F1-B48F-45168701CB72}"/>
              </a:ext>
            </a:extLst>
          </p:cNvPr>
          <p:cNvSpPr txBox="1"/>
          <p:nvPr/>
        </p:nvSpPr>
        <p:spPr>
          <a:xfrm>
            <a:off x="7133202" y="2951073"/>
            <a:ext cx="4765949" cy="3353476"/>
          </a:xfrm>
          <a:prstGeom prst="rect">
            <a:avLst/>
          </a:prstGeom>
        </p:spPr>
        <p:txBody>
          <a:bodyPr vert="horz" lIns="91440" tIns="45720" rIns="91440" bIns="45720" rtlCol="0" anchor="t">
            <a:normAutofit/>
          </a:bodyPr>
          <a:lstStyle/>
          <a:p>
            <a:pPr>
              <a:lnSpc>
                <a:spcPct val="90000"/>
              </a:lnSpc>
              <a:spcAft>
                <a:spcPts val="600"/>
              </a:spcAft>
            </a:pPr>
            <a:r>
              <a:rPr lang="en-US" b="0" i="0" u="none" strike="noStrike" dirty="0">
                <a:solidFill>
                  <a:schemeClr val="tx2"/>
                </a:solidFill>
                <a:effectLst/>
              </a:rPr>
              <a:t>10:15, 11:15, and 1:45 appointment times on Nov 20 and 12:00 on Nov 21st are not available because they have already been scheduled for another patient (on next slides as well)</a:t>
            </a:r>
            <a:endParaRPr lang="en-US" dirty="0">
              <a:solidFill>
                <a:schemeClr val="tx2"/>
              </a:solidFill>
            </a:endParaRPr>
          </a:p>
        </p:txBody>
      </p:sp>
      <p:grpSp>
        <p:nvGrpSpPr>
          <p:cNvPr id="21" name="Group 20">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2" name="Freeform: Shape 21">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7C6D91C1-2F5F-091C-222A-7536DFCA425C}"/>
              </a:ext>
            </a:extLst>
          </p:cNvPr>
          <p:cNvPicPr>
            <a:picLocks noChangeAspect="1"/>
          </p:cNvPicPr>
          <p:nvPr/>
        </p:nvPicPr>
        <p:blipFill rotWithShape="1">
          <a:blip r:embed="rId2"/>
          <a:srcRect b="2613"/>
          <a:stretch/>
        </p:blipFill>
        <p:spPr>
          <a:xfrm>
            <a:off x="193636" y="93997"/>
            <a:ext cx="6746235" cy="6670005"/>
          </a:xfrm>
          <a:prstGeom prst="rect">
            <a:avLst/>
          </a:prstGeom>
        </p:spPr>
      </p:pic>
      <p:pic>
        <p:nvPicPr>
          <p:cNvPr id="8" name="Picture 2">
            <a:extLst>
              <a:ext uri="{FF2B5EF4-FFF2-40B4-BE49-F238E27FC236}">
                <a16:creationId xmlns:a16="http://schemas.microsoft.com/office/drawing/2014/main" id="{4D9399F5-64B2-1D82-F621-9307812DDF6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31391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5" name="Freeform: Shape 410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410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1" name="Freeform: Shape 411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113" name="Isosceles Triangle 411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Isosceles Triangle 411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82FF17C3-482A-88D0-6460-41EB4A3F1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07730"/>
            <a:ext cx="12192000" cy="57753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FB4819A1-F96E-B2E7-F8FD-64BF7485BCF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54390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9" name="Freeform: Shape 512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1" name="Rectangle 513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Freeform: Shape 513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37" name="Isosceles Triangle 513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a:extLst>
              <a:ext uri="{FF2B5EF4-FFF2-40B4-BE49-F238E27FC236}">
                <a16:creationId xmlns:a16="http://schemas.microsoft.com/office/drawing/2014/main" id="{54F786FA-54A5-6E84-15C2-0739C6A60A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20398" y="596459"/>
            <a:ext cx="11951204" cy="5646944"/>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139" name="Isosceles Triangle 513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a:extLst>
              <a:ext uri="{FF2B5EF4-FFF2-40B4-BE49-F238E27FC236}">
                <a16:creationId xmlns:a16="http://schemas.microsoft.com/office/drawing/2014/main" id="{AF517640-159A-A3C0-7E13-4DFBA7B0F49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88818" y="6130396"/>
            <a:ext cx="602878" cy="721628"/>
          </a:xfrm>
          <a:custGeom>
            <a:avLst/>
            <a:gdLst/>
            <a:ahLst/>
            <a:cxnLst/>
            <a:rect l="l" t="t" r="r" b="b"/>
            <a:pathLst>
              <a:path w="4141760" h="4377846">
                <a:moveTo>
                  <a:pt x="0" y="0"/>
                </a:moveTo>
                <a:lnTo>
                  <a:pt x="4141760" y="0"/>
                </a:lnTo>
                <a:lnTo>
                  <a:pt x="4141760" y="4377846"/>
                </a:lnTo>
                <a:lnTo>
                  <a:pt x="0" y="4377846"/>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908575"/>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1252</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Inter</vt:lpstr>
      <vt:lpstr>Office Theme</vt:lpstr>
      <vt:lpstr>DTC Dentistry</vt:lpstr>
      <vt:lpstr>PowerPoint Presentation</vt:lpstr>
      <vt:lpstr>PowerPoint Presentation</vt:lpstr>
      <vt:lpstr>PowerPoint Presentation</vt:lpstr>
      <vt:lpstr>PowerPoint Presentation</vt:lpstr>
      <vt:lpstr>Other Services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DTC Dentistry</dc:title>
  <dc:creator>High, Josh</dc:creator>
  <cp:lastModifiedBy>High, Josh</cp:lastModifiedBy>
  <cp:revision>1</cp:revision>
  <dcterms:created xsi:type="dcterms:W3CDTF">2023-11-18T00:21:12Z</dcterms:created>
  <dcterms:modified xsi:type="dcterms:W3CDTF">2023-11-18T01:16:18Z</dcterms:modified>
</cp:coreProperties>
</file>